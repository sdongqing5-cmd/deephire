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3" r:id="rId4"/>
    <p:sldMasterId id="2147483685" r:id="rId5"/>
  </p:sldMasterIdLst>
  <p:notesMasterIdLst>
    <p:notesMasterId r:id="rId7"/>
  </p:notesMasterIdLst>
  <p:handoutMasterIdLst>
    <p:handoutMasterId r:id="rId95"/>
  </p:handoutMasterIdLst>
  <p:sldIdLst>
    <p:sldId id="1822" r:id="rId6"/>
    <p:sldId id="1806" r:id="rId8"/>
    <p:sldId id="1793" r:id="rId9"/>
    <p:sldId id="2070" r:id="rId10"/>
    <p:sldId id="1993" r:id="rId11"/>
    <p:sldId id="1994" r:id="rId12"/>
    <p:sldId id="1796" r:id="rId13"/>
    <p:sldId id="1851" r:id="rId14"/>
    <p:sldId id="1256" r:id="rId15"/>
    <p:sldId id="1762" r:id="rId16"/>
    <p:sldId id="1794" r:id="rId17"/>
    <p:sldId id="2195" r:id="rId18"/>
    <p:sldId id="1765" r:id="rId19"/>
    <p:sldId id="1823" r:id="rId20"/>
    <p:sldId id="1776" r:id="rId21"/>
    <p:sldId id="1777" r:id="rId22"/>
    <p:sldId id="1801" r:id="rId23"/>
    <p:sldId id="1769" r:id="rId24"/>
    <p:sldId id="1997" r:id="rId25"/>
    <p:sldId id="1839" r:id="rId26"/>
    <p:sldId id="1848" r:id="rId27"/>
    <p:sldId id="1763" r:id="rId28"/>
    <p:sldId id="1999" r:id="rId29"/>
    <p:sldId id="1803" r:id="rId30"/>
    <p:sldId id="1786" r:id="rId31"/>
    <p:sldId id="1787" r:id="rId32"/>
    <p:sldId id="1840" r:id="rId33"/>
    <p:sldId id="1802" r:id="rId34"/>
    <p:sldId id="1143" r:id="rId35"/>
    <p:sldId id="733" r:id="rId36"/>
    <p:sldId id="1795" r:id="rId37"/>
    <p:sldId id="747" r:id="rId38"/>
    <p:sldId id="1834" r:id="rId39"/>
    <p:sldId id="1284" r:id="rId40"/>
    <p:sldId id="1528" r:id="rId41"/>
    <p:sldId id="1844" r:id="rId42"/>
    <p:sldId id="1841" r:id="rId43"/>
    <p:sldId id="1058" r:id="rId44"/>
    <p:sldId id="1275" r:id="rId45"/>
    <p:sldId id="1277" r:id="rId46"/>
    <p:sldId id="1798" r:id="rId47"/>
    <p:sldId id="1845" r:id="rId48"/>
    <p:sldId id="1799" r:id="rId49"/>
    <p:sldId id="1797" r:id="rId50"/>
    <p:sldId id="1842" r:id="rId51"/>
    <p:sldId id="2152" r:id="rId52"/>
    <p:sldId id="2153" r:id="rId53"/>
    <p:sldId id="2154" r:id="rId54"/>
    <p:sldId id="2155" r:id="rId55"/>
    <p:sldId id="2156" r:id="rId56"/>
    <p:sldId id="2157" r:id="rId57"/>
    <p:sldId id="2158" r:id="rId58"/>
    <p:sldId id="2290" r:id="rId59"/>
    <p:sldId id="1053" r:id="rId60"/>
    <p:sldId id="2190" r:id="rId61"/>
    <p:sldId id="2191" r:id="rId62"/>
    <p:sldId id="2192" r:id="rId63"/>
    <p:sldId id="2193" r:id="rId64"/>
    <p:sldId id="2194" r:id="rId65"/>
    <p:sldId id="2160" r:id="rId66"/>
    <p:sldId id="2161" r:id="rId67"/>
    <p:sldId id="2162" r:id="rId68"/>
    <p:sldId id="2163" r:id="rId69"/>
    <p:sldId id="2164" r:id="rId70"/>
    <p:sldId id="2165" r:id="rId71"/>
    <p:sldId id="2166" r:id="rId72"/>
    <p:sldId id="2167" r:id="rId73"/>
    <p:sldId id="2270" r:id="rId74"/>
    <p:sldId id="2325" r:id="rId75"/>
    <p:sldId id="1998" r:id="rId76"/>
    <p:sldId id="2132" r:id="rId77"/>
    <p:sldId id="2134" r:id="rId78"/>
    <p:sldId id="2133" r:id="rId79"/>
    <p:sldId id="2135" r:id="rId80"/>
    <p:sldId id="2136" r:id="rId81"/>
    <p:sldId id="2139" r:id="rId82"/>
    <p:sldId id="2140" r:id="rId83"/>
    <p:sldId id="2141" r:id="rId84"/>
    <p:sldId id="2055" r:id="rId85"/>
    <p:sldId id="1825" r:id="rId86"/>
    <p:sldId id="1827" r:id="rId87"/>
    <p:sldId id="1830" r:id="rId88"/>
    <p:sldId id="1828" r:id="rId89"/>
    <p:sldId id="1831" r:id="rId90"/>
    <p:sldId id="1836" r:id="rId91"/>
    <p:sldId id="1849" r:id="rId92"/>
    <p:sldId id="1850" r:id="rId93"/>
    <p:sldId id="1804" r:id="rId94"/>
  </p:sldIdLst>
  <p:sldSz cx="12192000" cy="6858000"/>
  <p:notesSz cx="6858000" cy="9144000"/>
  <p:custDataLst>
    <p:tags r:id="rId10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469290D-E3D3-4432-9727-1FEAA3AED4FB}">
          <p14:sldIdLst>
            <p14:sldId id="1822"/>
            <p14:sldId id="1806"/>
            <p14:sldId id="1793"/>
            <p14:sldId id="2070"/>
            <p14:sldId id="1993"/>
            <p14:sldId id="1994"/>
            <p14:sldId id="1796"/>
            <p14:sldId id="1851"/>
            <p14:sldId id="1256"/>
            <p14:sldId id="1762"/>
            <p14:sldId id="1794"/>
            <p14:sldId id="2195"/>
            <p14:sldId id="1765"/>
            <p14:sldId id="1823"/>
            <p14:sldId id="1776"/>
            <p14:sldId id="1777"/>
            <p14:sldId id="1801"/>
            <p14:sldId id="1769"/>
            <p14:sldId id="1997"/>
            <p14:sldId id="1839"/>
            <p14:sldId id="1848"/>
            <p14:sldId id="1763"/>
            <p14:sldId id="1999"/>
            <p14:sldId id="1803"/>
            <p14:sldId id="1786"/>
            <p14:sldId id="1787"/>
            <p14:sldId id="1840"/>
            <p14:sldId id="1802"/>
            <p14:sldId id="1143"/>
            <p14:sldId id="733"/>
            <p14:sldId id="1795"/>
            <p14:sldId id="747"/>
            <p14:sldId id="1834"/>
            <p14:sldId id="1284"/>
            <p14:sldId id="1528"/>
            <p14:sldId id="1844"/>
            <p14:sldId id="1841"/>
            <p14:sldId id="1058"/>
            <p14:sldId id="1275"/>
            <p14:sldId id="1277"/>
            <p14:sldId id="1798"/>
            <p14:sldId id="1845"/>
            <p14:sldId id="1799"/>
            <p14:sldId id="1797"/>
            <p14:sldId id="1842"/>
            <p14:sldId id="2152"/>
            <p14:sldId id="2153"/>
            <p14:sldId id="2154"/>
            <p14:sldId id="2155"/>
            <p14:sldId id="2156"/>
            <p14:sldId id="2157"/>
            <p14:sldId id="2158"/>
            <p14:sldId id="2290"/>
            <p14:sldId id="1053"/>
            <p14:sldId id="2190"/>
            <p14:sldId id="2191"/>
            <p14:sldId id="2192"/>
            <p14:sldId id="2193"/>
            <p14:sldId id="2194"/>
            <p14:sldId id="2160"/>
            <p14:sldId id="2161"/>
            <p14:sldId id="2162"/>
            <p14:sldId id="2163"/>
            <p14:sldId id="2164"/>
            <p14:sldId id="2165"/>
            <p14:sldId id="2166"/>
            <p14:sldId id="2167"/>
            <p14:sldId id="2270"/>
            <p14:sldId id="2325"/>
            <p14:sldId id="1998"/>
            <p14:sldId id="2132"/>
            <p14:sldId id="2134"/>
            <p14:sldId id="2133"/>
            <p14:sldId id="2135"/>
            <p14:sldId id="2136"/>
            <p14:sldId id="2139"/>
            <p14:sldId id="2140"/>
            <p14:sldId id="2141"/>
            <p14:sldId id="2055"/>
            <p14:sldId id="1825"/>
            <p14:sldId id="1827"/>
            <p14:sldId id="1830"/>
            <p14:sldId id="1828"/>
            <p14:sldId id="1831"/>
            <p14:sldId id="1836"/>
            <p14:sldId id="1849"/>
            <p14:sldId id="1850"/>
            <p14:sldId id="1804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Microso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89B"/>
    <a:srgbClr val="83BCC1"/>
    <a:srgbClr val="FFDDDD"/>
    <a:srgbClr val="FF9698"/>
    <a:srgbClr val="F2F2F2"/>
    <a:srgbClr val="FFB7B7"/>
    <a:srgbClr val="783A7A"/>
    <a:srgbClr val="326064"/>
    <a:srgbClr val="224043"/>
    <a:srgbClr val="C991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129" autoAdjust="0"/>
    <p:restoredTop sz="93760" autoAdjust="0"/>
  </p:normalViewPr>
  <p:slideViewPr>
    <p:cSldViewPr>
      <p:cViewPr varScale="1">
        <p:scale>
          <a:sx n="66" d="100"/>
          <a:sy n="66" d="100"/>
        </p:scale>
        <p:origin x="-1140" y="-96"/>
      </p:cViewPr>
      <p:guideLst>
        <p:guide orient="horz" pos="2172"/>
        <p:guide pos="40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280"/>
    </p:cViewPr>
  </p:sorterViewPr>
  <p:notesViewPr>
    <p:cSldViewPr>
      <p:cViewPr varScale="1">
        <p:scale>
          <a:sx n="58" d="100"/>
          <a:sy n="58" d="100"/>
        </p:scale>
        <p:origin x="279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commentAuthors" Target="commentAuthors.xml"/><Relationship Id="rId98" Type="http://schemas.openxmlformats.org/officeDocument/2006/relationships/tableStyles" Target="tableStyles.xml"/><Relationship Id="rId97" Type="http://schemas.openxmlformats.org/officeDocument/2006/relationships/viewProps" Target="viewProps.xml"/><Relationship Id="rId96" Type="http://schemas.openxmlformats.org/officeDocument/2006/relationships/presProps" Target="presProps.xml"/><Relationship Id="rId95" Type="http://schemas.openxmlformats.org/officeDocument/2006/relationships/handoutMaster" Target="handoutMasters/handoutMaster1.xml"/><Relationship Id="rId94" Type="http://schemas.openxmlformats.org/officeDocument/2006/relationships/slide" Target="slides/slide88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" Type="http://schemas.openxmlformats.org/officeDocument/2006/relationships/slide" Target="slides/slide3.xml"/><Relationship Id="rId89" Type="http://schemas.openxmlformats.org/officeDocument/2006/relationships/slide" Target="slides/slide83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80" Type="http://schemas.openxmlformats.org/officeDocument/2006/relationships/slide" Target="slides/slide74.xml"/><Relationship Id="rId8" Type="http://schemas.openxmlformats.org/officeDocument/2006/relationships/slide" Target="slides/slide2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0" Type="http://schemas.openxmlformats.org/officeDocument/2006/relationships/tags" Target="tags/tag1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4A941-5F06-42A2-AEFE-98EEBA957D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17EEB-2C50-410E-B5FF-ECA15DA0E1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80172-D08C-4BA4-ADA2-E32D34E7D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5C451-1644-4498-A617-D3C86D7BE2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0D9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2706624"/>
            <a:ext cx="12192000" cy="415137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defRPr/>
            </a:pPr>
            <a:endParaRPr lang="zh-CN" altLang="en-US" dirty="0">
              <a:solidFill>
                <a:srgbClr val="00C0C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Picture 7" descr="C:\Users\Administrator.BS-ZHANGDI\Desktop\newlogo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231904" y="1700808"/>
            <a:ext cx="2147888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 userDrawn="1">
            <p:ph type="title"/>
          </p:nvPr>
        </p:nvSpPr>
        <p:spPr>
          <a:xfrm>
            <a:off x="2400300" y="2682875"/>
            <a:ext cx="74041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 userDrawn="1">
            <p:ph type="body" sz="quarter" idx="10"/>
          </p:nvPr>
        </p:nvSpPr>
        <p:spPr>
          <a:xfrm>
            <a:off x="3352800" y="3981450"/>
            <a:ext cx="5334000" cy="635000"/>
          </a:xfrm>
        </p:spPr>
        <p:txBody>
          <a:bodyPr/>
          <a:lstStyle>
            <a:lvl1pPr algn="ctr">
              <a:defRPr sz="20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0D9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6646" y="260648"/>
            <a:ext cx="10515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0000" tIns="216000" bIns="216000"/>
          <a:lstStyle>
            <a:lvl1pPr>
              <a:defRPr sz="2400" b="1" baseline="0">
                <a:solidFill>
                  <a:srgbClr val="0D98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zh-CN" dirty="0"/>
          </a:p>
        </p:txBody>
      </p:sp>
      <p:sp>
        <p:nvSpPr>
          <p:cNvPr id="6" name="文本占位符 28"/>
          <p:cNvSpPr>
            <a:spLocks noGrp="1"/>
          </p:cNvSpPr>
          <p:nvPr>
            <p:ph type="body" sz="quarter" idx="10"/>
          </p:nvPr>
        </p:nvSpPr>
        <p:spPr>
          <a:xfrm>
            <a:off x="1765300" y="1730375"/>
            <a:ext cx="7226300" cy="1219200"/>
          </a:xfrm>
        </p:spPr>
        <p:txBody>
          <a:bodyPr/>
          <a:lstStyle>
            <a:lvl1pPr>
              <a:defRPr sz="1400">
                <a:solidFill>
                  <a:srgbClr val="5A5A5A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 flipV="1">
            <a:off x="1024128" y="764704"/>
            <a:ext cx="10104120" cy="121"/>
          </a:xfrm>
          <a:prstGeom prst="line">
            <a:avLst/>
          </a:prstGeom>
          <a:ln>
            <a:solidFill>
              <a:srgbClr val="0D9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 flipV="1">
            <a:off x="1024128" y="764704"/>
            <a:ext cx="10104120" cy="121"/>
          </a:xfrm>
          <a:prstGeom prst="line">
            <a:avLst/>
          </a:prstGeom>
          <a:ln>
            <a:solidFill>
              <a:srgbClr val="0D9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FB51F9-82E7-4FA6-879A-549746F0CA5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Talent management software cloud service leader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A4492E-19DE-480D-AFC4-CB7A3DCA407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82"/>
          <p:cNvSpPr>
            <a:spLocks noChangeArrowheads="1"/>
          </p:cNvSpPr>
          <p:nvPr userDrawn="1"/>
        </p:nvSpPr>
        <p:spPr bwMode="auto">
          <a:xfrm>
            <a:off x="2366962" y="1922440"/>
            <a:ext cx="745807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为践行这一使命，北森一直在努力！</a:t>
            </a:r>
            <a:endParaRPr lang="en-US" altLang="zh-CN" sz="2800" dirty="0">
              <a:solidFill>
                <a:schemeClr val="tx2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822392" y="2541732"/>
            <a:ext cx="87567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D989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基于互联网，构建新一代人才管理软件，帮助中国企业实现人才领先！</a:t>
            </a:r>
            <a:endParaRPr lang="zh-CN" altLang="en-US" sz="3600" b="1" dirty="0">
              <a:solidFill>
                <a:srgbClr val="0D989B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Picture 2" descr="C:\Users\lixinlei\Desktop\bensen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238750" y="4598579"/>
            <a:ext cx="1714500" cy="36594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3936855" y="2606761"/>
            <a:ext cx="4346864" cy="91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0D989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THANK YOU!</a:t>
            </a:r>
            <a:endParaRPr lang="zh-CN" altLang="en-US" sz="5400" b="1" dirty="0">
              <a:solidFill>
                <a:srgbClr val="0D989B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 bwMode="auto">
          <a:xfrm>
            <a:off x="0" y="3093643"/>
            <a:ext cx="382905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D989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 userDrawn="1"/>
        </p:nvCxnSpPr>
        <p:spPr bwMode="auto">
          <a:xfrm>
            <a:off x="8362950" y="3093643"/>
            <a:ext cx="382905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D989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425156" y="3340100"/>
            <a:ext cx="3341688" cy="202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Leader of talent Management Software Cloud Service</a:t>
            </a:r>
            <a:endParaRPr lang="zh-CN" altLang="en-US" sz="1000" b="1" dirty="0">
              <a:solidFill>
                <a:schemeClr val="tx2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 bwMode="auto">
          <a:xfrm>
            <a:off x="2605618" y="3621617"/>
            <a:ext cx="6980767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KSO_Shape"/>
          <p:cNvSpPr/>
          <p:nvPr userDrawn="1"/>
        </p:nvSpPr>
        <p:spPr bwMode="auto">
          <a:xfrm rot="5400000">
            <a:off x="5944658" y="5637743"/>
            <a:ext cx="302684" cy="364067"/>
          </a:xfrm>
          <a:custGeom>
            <a:avLst/>
            <a:gdLst>
              <a:gd name="T0" fmla="*/ 914966 w 11382375"/>
              <a:gd name="T1" fmla="*/ 323847 h 13741400"/>
              <a:gd name="T2" fmla="*/ 1491317 w 11382375"/>
              <a:gd name="T3" fmla="*/ 900199 h 13741400"/>
              <a:gd name="T4" fmla="*/ 914966 w 11382375"/>
              <a:gd name="T5" fmla="*/ 1476342 h 13741400"/>
              <a:gd name="T6" fmla="*/ 862343 w 11382375"/>
              <a:gd name="T7" fmla="*/ 1422264 h 13741400"/>
              <a:gd name="T8" fmla="*/ 1383992 w 11382375"/>
              <a:gd name="T9" fmla="*/ 900199 h 13741400"/>
              <a:gd name="T10" fmla="*/ 862343 w 11382375"/>
              <a:gd name="T11" fmla="*/ 378549 h 13741400"/>
              <a:gd name="T12" fmla="*/ 81742 w 11382375"/>
              <a:gd name="T13" fmla="*/ 0 h 13741400"/>
              <a:gd name="T14" fmla="*/ 982772 w 11382375"/>
              <a:gd name="T15" fmla="*/ 900199 h 13741400"/>
              <a:gd name="T16" fmla="*/ 81742 w 11382375"/>
              <a:gd name="T17" fmla="*/ 1800397 h 13741400"/>
              <a:gd name="T18" fmla="*/ 0 w 11382375"/>
              <a:gd name="T19" fmla="*/ 1715951 h 13741400"/>
              <a:gd name="T20" fmla="*/ 815545 w 11382375"/>
              <a:gd name="T21" fmla="*/ 900199 h 13741400"/>
              <a:gd name="T22" fmla="*/ 0 w 11382375"/>
              <a:gd name="T23" fmla="*/ 85070 h 137414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382375" h="13741400">
                <a:moveTo>
                  <a:pt x="6983413" y="2471737"/>
                </a:moveTo>
                <a:lnTo>
                  <a:pt x="11382375" y="6870700"/>
                </a:lnTo>
                <a:lnTo>
                  <a:pt x="6983413" y="11268075"/>
                </a:lnTo>
                <a:lnTo>
                  <a:pt x="6581775" y="10855325"/>
                </a:lnTo>
                <a:lnTo>
                  <a:pt x="10563225" y="6870700"/>
                </a:lnTo>
                <a:lnTo>
                  <a:pt x="6581775" y="2889250"/>
                </a:lnTo>
                <a:lnTo>
                  <a:pt x="6983413" y="2471737"/>
                </a:lnTo>
                <a:close/>
                <a:moveTo>
                  <a:pt x="623888" y="0"/>
                </a:moveTo>
                <a:lnTo>
                  <a:pt x="7500938" y="6870700"/>
                </a:lnTo>
                <a:lnTo>
                  <a:pt x="623888" y="13741400"/>
                </a:lnTo>
                <a:lnTo>
                  <a:pt x="0" y="13096875"/>
                </a:lnTo>
                <a:lnTo>
                  <a:pt x="6224588" y="6870700"/>
                </a:lnTo>
                <a:lnTo>
                  <a:pt x="0" y="649288"/>
                </a:lnTo>
                <a:lnTo>
                  <a:pt x="623888" y="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  <a:effectLst>
            <a:outerShdw blurRad="63500" dist="25400" dir="6000000" algn="ctr" rotWithShape="0">
              <a:srgbClr val="000000">
                <a:alpha val="50000"/>
              </a:srgbClr>
            </a:outerShdw>
          </a:effectLst>
        </p:spPr>
        <p:txBody>
          <a:bodyPr lIns="121917" tIns="60958" rIns="121917" bIns="60958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2619351" y="2660915"/>
            <a:ext cx="6953299" cy="857256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7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2"/>
          </p:nvPr>
        </p:nvSpPr>
        <p:spPr>
          <a:xfrm>
            <a:off x="2619370" y="3818367"/>
            <a:ext cx="6953263" cy="66675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1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A----文字格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21506" y="179506"/>
            <a:ext cx="10972800" cy="482600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08E9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图片 11" descr="PPT背景---外部演版--辅助图形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476871" y="6282426"/>
            <a:ext cx="1262073" cy="187116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639763" y="832515"/>
            <a:ext cx="10947401" cy="5326987"/>
          </a:xfrm>
        </p:spPr>
        <p:txBody>
          <a:bodyPr/>
          <a:lstStyle>
            <a:lvl1pPr>
              <a:defRPr sz="2800">
                <a:solidFill>
                  <a:srgbClr val="008E9D"/>
                </a:solidFill>
              </a:defRPr>
            </a:lvl1pPr>
            <a:lvl2pPr>
              <a:defRPr sz="2400">
                <a:solidFill>
                  <a:srgbClr val="008E9D"/>
                </a:solidFill>
              </a:defRPr>
            </a:lvl2pPr>
            <a:lvl3pPr>
              <a:defRPr sz="2000">
                <a:solidFill>
                  <a:srgbClr val="008E9D"/>
                </a:solidFill>
              </a:defRPr>
            </a:lvl3pPr>
            <a:lvl4pPr>
              <a:defRPr sz="1800">
                <a:solidFill>
                  <a:srgbClr val="008E9D"/>
                </a:solidFill>
              </a:defRPr>
            </a:lvl4pPr>
            <a:lvl5pPr>
              <a:defRPr>
                <a:solidFill>
                  <a:srgbClr val="008E9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81"/>
          <p:cNvSpPr/>
          <p:nvPr userDrawn="1"/>
        </p:nvSpPr>
        <p:spPr>
          <a:xfrm>
            <a:off x="-1259" y="3014226"/>
            <a:ext cx="12193262" cy="923318"/>
          </a:xfrm>
          <a:prstGeom prst="rect">
            <a:avLst/>
          </a:prstGeom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id-ID" sz="5400" b="1" dirty="0">
                <a:solidFill>
                  <a:srgbClr val="FF6600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THANK</a:t>
            </a:r>
            <a:r>
              <a:rPr lang="id-ID" sz="5400" b="1" dirty="0">
                <a:solidFill>
                  <a:schemeClr val="accent2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id-ID" sz="5400" b="1" dirty="0">
                <a:solidFill>
                  <a:srgbClr val="8CC221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YOU</a:t>
            </a:r>
            <a:r>
              <a:rPr lang="id-ID" sz="5400" b="1" dirty="0">
                <a:solidFill>
                  <a:schemeClr val="accent2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id-ID" sz="5400" b="1" dirty="0">
                <a:solidFill>
                  <a:srgbClr val="D9B765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FOR</a:t>
            </a:r>
            <a:r>
              <a:rPr lang="id-ID" sz="5400" b="1" dirty="0">
                <a:solidFill>
                  <a:schemeClr val="accent2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 </a:t>
            </a:r>
            <a:r>
              <a:rPr lang="id-ID" sz="5400" b="1" dirty="0">
                <a:solidFill>
                  <a:srgbClr val="008E9D"/>
                </a:solidFill>
                <a:ea typeface="Roboto" panose="02000000000000000000" pitchFamily="2" charset="0"/>
                <a:cs typeface="Open Sans Light" panose="020B0306030504020204" pitchFamily="34" charset="0"/>
              </a:rPr>
              <a:t>WATCHING</a:t>
            </a:r>
            <a:endParaRPr lang="id-ID" sz="5400" b="1" dirty="0">
              <a:solidFill>
                <a:srgbClr val="008E9D"/>
              </a:solidFill>
              <a:ea typeface="Roboto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15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4646572" y="4212122"/>
            <a:ext cx="2932112" cy="566737"/>
          </a:xfrm>
        </p:spPr>
        <p:txBody>
          <a:bodyPr>
            <a:noAutofit/>
          </a:bodyPr>
          <a:lstStyle>
            <a:lvl1pPr algn="ctr">
              <a:buNone/>
              <a:defRPr sz="2000" b="1">
                <a:solidFill>
                  <a:srgbClr val="008E9D"/>
                </a:solidFill>
              </a:defRPr>
            </a:lvl1pPr>
          </a:lstStyle>
          <a:p>
            <a:pPr lvl="0"/>
            <a:r>
              <a:rPr lang="en-US" altLang="zh-CN" dirty="0"/>
              <a:t>END</a:t>
            </a:r>
            <a:endParaRPr lang="zh-CN" altLang="en-US" dirty="0"/>
          </a:p>
        </p:txBody>
      </p:sp>
      <p:pic>
        <p:nvPicPr>
          <p:cNvPr id="2050" name="Picture 2" descr="E:\进行中------\企业文化\LOGO\中英文----白色--LOGO-0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8595" y="1142527"/>
            <a:ext cx="1573225" cy="16567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15" grpId="0" build="p">
        <p:tmplLst>
          <p:tmpl lvl="1">
            <p:tnLst>
              <p:par>
                <p:cTn presetID="1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lide(fromBottom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/>
          <p:cNvSpPr>
            <a:spLocks noGrp="1"/>
          </p:cNvSpPr>
          <p:nvPr>
            <p:ph type="title"/>
          </p:nvPr>
        </p:nvSpPr>
        <p:spPr>
          <a:xfrm>
            <a:off x="262800" y="190800"/>
            <a:ext cx="10972800" cy="482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rgbClr val="008E9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95BA-48E5-874F-A891-028BD7AD3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CE15-C30B-9244-9EAC-103915259A5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0D9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2706624"/>
            <a:ext cx="12192000" cy="415137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defRPr/>
            </a:pPr>
            <a:endParaRPr lang="zh-CN" altLang="en-US" dirty="0">
              <a:solidFill>
                <a:srgbClr val="00C0C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Picture 7" descr="C:\Users\Administrator.BS-ZHANGDI\Desktop\newlogo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231904" y="1700808"/>
            <a:ext cx="2147888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 userDrawn="1">
            <p:ph type="title"/>
          </p:nvPr>
        </p:nvSpPr>
        <p:spPr>
          <a:xfrm>
            <a:off x="2400300" y="2682875"/>
            <a:ext cx="74041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 userDrawn="1">
            <p:ph type="body" sz="quarter" idx="10"/>
          </p:nvPr>
        </p:nvSpPr>
        <p:spPr>
          <a:xfrm>
            <a:off x="3352800" y="3981450"/>
            <a:ext cx="5334000" cy="635000"/>
          </a:xfrm>
        </p:spPr>
        <p:txBody>
          <a:bodyPr/>
          <a:lstStyle>
            <a:lvl1pPr algn="ctr">
              <a:defRPr sz="20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F:\360云盘\04-待整理ing\pic\13-questions-to-ask-during-your-next-interview-aab3f9a99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-27384"/>
            <a:ext cx="8155824" cy="4584432"/>
          </a:xfrm>
          <a:prstGeom prst="rect">
            <a:avLst/>
          </a:prstGeom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4184924"/>
            <a:ext cx="12195175" cy="1368152"/>
          </a:xfrm>
          <a:prstGeom prst="rect">
            <a:avLst/>
          </a:prstGeom>
          <a:solidFill>
            <a:srgbClr val="363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1703832" y="3645024"/>
            <a:ext cx="2591968" cy="2663976"/>
          </a:xfrm>
          <a:prstGeom prst="ellipse">
            <a:avLst/>
          </a:prstGeom>
          <a:solidFill>
            <a:srgbClr val="363437"/>
          </a:solidFill>
          <a:ln w="127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999656" y="6309000"/>
            <a:ext cx="0" cy="260808"/>
          </a:xfrm>
          <a:prstGeom prst="line">
            <a:avLst/>
          </a:prstGeom>
          <a:solidFill>
            <a:srgbClr val="363437"/>
          </a:solidFill>
          <a:ln w="762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Picture 7" descr="C:\Users\Administrator.BS-ZHANGDI\Desktop\newlogo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0405911" y="4971058"/>
            <a:ext cx="1738761" cy="546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rgbClr val="0D9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F:\360云盘\02-个人资料\！PPT图片及版面资源\06-PPT精选插图\03-人物\stk32318bme.jpg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23264" y="-27384"/>
            <a:ext cx="12171911" cy="6317597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635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 userDrawn="1"/>
        </p:nvSpPr>
        <p:spPr bwMode="auto">
          <a:xfrm>
            <a:off x="-24681" y="4608512"/>
            <a:ext cx="12219855" cy="22768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defRPr/>
            </a:pPr>
            <a:endParaRPr lang="zh-CN" altLang="en-US" dirty="0">
              <a:solidFill>
                <a:srgbClr val="00C0C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4184924"/>
            <a:ext cx="12195175" cy="1368152"/>
          </a:xfrm>
          <a:prstGeom prst="rect">
            <a:avLst/>
          </a:prstGeom>
          <a:solidFill>
            <a:srgbClr val="363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911424" y="3429000"/>
            <a:ext cx="2880000" cy="2880000"/>
          </a:xfrm>
          <a:prstGeom prst="ellipse">
            <a:avLst/>
          </a:prstGeom>
          <a:solidFill>
            <a:srgbClr val="363437"/>
          </a:solidFill>
          <a:ln w="127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cxnSp>
        <p:nvCxnSpPr>
          <p:cNvPr id="9" name="直接连接符 8"/>
          <p:cNvCxnSpPr>
            <a:stCxn id="8" idx="4"/>
          </p:cNvCxnSpPr>
          <p:nvPr userDrawn="1"/>
        </p:nvCxnSpPr>
        <p:spPr>
          <a:xfrm>
            <a:off x="2351424" y="6309000"/>
            <a:ext cx="1" cy="260808"/>
          </a:xfrm>
          <a:prstGeom prst="line">
            <a:avLst/>
          </a:prstGeom>
          <a:solidFill>
            <a:srgbClr val="363437"/>
          </a:solidFill>
          <a:ln w="762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Picture 7" descr="C:\Users\Administrator.BS-ZHANGDI\Desktop\newlogo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738241" y="4608512"/>
            <a:ext cx="2147888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0D9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6646" y="733425"/>
            <a:ext cx="10515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0000" tIns="216000" bIns="216000"/>
          <a:lstStyle>
            <a:lvl1pPr>
              <a:defRPr sz="2000" b="1" baseline="0">
                <a:solidFill>
                  <a:srgbClr val="0D98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zh-CN" dirty="0"/>
          </a:p>
        </p:txBody>
      </p:sp>
      <p:sp>
        <p:nvSpPr>
          <p:cNvPr id="6" name="文本占位符 28"/>
          <p:cNvSpPr>
            <a:spLocks noGrp="1"/>
          </p:cNvSpPr>
          <p:nvPr>
            <p:ph type="body" sz="quarter" idx="10"/>
          </p:nvPr>
        </p:nvSpPr>
        <p:spPr>
          <a:xfrm>
            <a:off x="1765300" y="1730375"/>
            <a:ext cx="7226300" cy="1219200"/>
          </a:xfrm>
        </p:spPr>
        <p:txBody>
          <a:bodyPr/>
          <a:lstStyle>
            <a:lvl1pPr>
              <a:defRPr sz="1400">
                <a:solidFill>
                  <a:srgbClr val="5A5A5A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82"/>
          <p:cNvSpPr>
            <a:spLocks noChangeArrowheads="1"/>
          </p:cNvSpPr>
          <p:nvPr userDrawn="1"/>
        </p:nvSpPr>
        <p:spPr bwMode="auto">
          <a:xfrm>
            <a:off x="2366962" y="1922440"/>
            <a:ext cx="745807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242424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为践行这一使命，北森一直在努力！</a:t>
            </a:r>
            <a:endParaRPr lang="en-US" altLang="zh-CN" sz="2800" dirty="0">
              <a:solidFill>
                <a:srgbClr val="242424">
                  <a:lumMod val="75000"/>
                  <a:lumOff val="25000"/>
                </a:srgb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822392" y="2541732"/>
            <a:ext cx="87567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D989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基于互联网，构建新一代人才管理软件，帮助中国企业实现人才领先！</a:t>
            </a:r>
            <a:endParaRPr lang="zh-CN" altLang="en-US" sz="3600" b="1" dirty="0">
              <a:solidFill>
                <a:srgbClr val="0D989B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Picture 2" descr="C:\Users\lixinlei\Desktop\bensen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238750" y="4598579"/>
            <a:ext cx="1714500" cy="36594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3936855" y="2606761"/>
            <a:ext cx="4346864" cy="91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0D989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THANK YOU!</a:t>
            </a:r>
            <a:endParaRPr lang="zh-CN" altLang="en-US" sz="5400" b="1" dirty="0">
              <a:solidFill>
                <a:srgbClr val="0D989B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 bwMode="auto">
          <a:xfrm>
            <a:off x="0" y="3093643"/>
            <a:ext cx="382905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D989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 userDrawn="1"/>
        </p:nvCxnSpPr>
        <p:spPr bwMode="auto">
          <a:xfrm>
            <a:off x="8362950" y="3093643"/>
            <a:ext cx="382905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D989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425156" y="3340100"/>
            <a:ext cx="3341688" cy="202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000" b="1" dirty="0">
                <a:solidFill>
                  <a:srgbClr val="242424">
                    <a:lumMod val="75000"/>
                    <a:lumOff val="25000"/>
                  </a:srgb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Leader of talent Management Software Cloud Service</a:t>
            </a:r>
            <a:endParaRPr lang="zh-CN" altLang="en-US" sz="1000" b="1" dirty="0">
              <a:solidFill>
                <a:srgbClr val="242424">
                  <a:lumMod val="75000"/>
                  <a:lumOff val="25000"/>
                </a:srgb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rgbClr val="2E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67784"/>
            <a:ext cx="162984" cy="476251"/>
          </a:xfrm>
          <a:prstGeom prst="rect">
            <a:avLst/>
          </a:prstGeom>
          <a:solidFill>
            <a:srgbClr val="008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8E9D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0833" y="6309784"/>
            <a:ext cx="1712384" cy="2645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21499" y="466725"/>
            <a:ext cx="10989047" cy="477839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91919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/>
          <p:cNvSpPr>
            <a:spLocks noGrp="1"/>
          </p:cNvSpPr>
          <p:nvPr>
            <p:ph type="title"/>
          </p:nvPr>
        </p:nvSpPr>
        <p:spPr>
          <a:xfrm>
            <a:off x="262800" y="190800"/>
            <a:ext cx="10972800" cy="482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rgbClr val="008E9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95BA-48E5-874F-A891-028BD7AD3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CE15-C30B-9244-9EAC-103915259A5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3276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CFB51F9-82E7-4FA6-879A-549746F0CA57}" type="datetime1">
              <a:rPr lang="zh-CN" altLang="en-US"/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8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Talent management software cloud service leader</a:t>
            </a:r>
            <a:endParaRPr lang="zh-CN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56350"/>
            <a:ext cx="3276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A4492E-19DE-480D-AFC4-CB7A3DCA407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DEE4B-A8FD-4E68-930F-C7ADA7930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C55B6-B88E-49B4-A069-9A6DFFC6F4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4E505-A05F-4B45-8929-E531483F6C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8147A-A58C-4124-8862-D4B8EF909D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3276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CFB51F9-82E7-4FA6-879A-549746F0CA57}" type="datetime1">
              <a:rPr lang="zh-CN" altLang="en-US"/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8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Talent management software cloud service leader</a:t>
            </a:r>
            <a:endParaRPr lang="zh-CN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56350"/>
            <a:ext cx="3276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A4492E-19DE-480D-AFC4-CB7A3DCA407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2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7.xml"/><Relationship Id="rId5" Type="http://schemas.openxmlformats.org/officeDocument/2006/relationships/slide" Target="slide80.xml"/><Relationship Id="rId4" Type="http://schemas.openxmlformats.org/officeDocument/2006/relationships/slide" Target="slide1.xml"/><Relationship Id="rId3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slide" Target="slide54.xml"/><Relationship Id="rId6" Type="http://schemas.openxmlformats.org/officeDocument/2006/relationships/slide" Target="slide38.xml"/><Relationship Id="rId5" Type="http://schemas.openxmlformats.org/officeDocument/2006/relationships/slide" Target="slide28.xml"/><Relationship Id="rId4" Type="http://schemas.openxmlformats.org/officeDocument/2006/relationships/slide" Target="slide22.xml"/><Relationship Id="rId3" Type="http://schemas.openxmlformats.org/officeDocument/2006/relationships/slide" Target="slide15.xml"/><Relationship Id="rId2" Type="http://schemas.openxmlformats.org/officeDocument/2006/relationships/slide" Target="slide9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5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2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3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2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3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4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slide" Target="slide1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slide" Target="slide1.xml"/><Relationship Id="rId4" Type="http://schemas.openxmlformats.org/officeDocument/2006/relationships/image" Target="../media/image10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slide" Target="slide1.xml"/><Relationship Id="rId5" Type="http://schemas.openxmlformats.org/officeDocument/2006/relationships/image" Target="../media/image99.png"/><Relationship Id="rId4" Type="http://schemas.openxmlformats.org/officeDocument/2006/relationships/image" Target="../media/image102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slide" Target="slide1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slide" Target="slide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slide" Target="slide1.xml"/><Relationship Id="rId4" Type="http://schemas.openxmlformats.org/officeDocument/2006/relationships/image" Target="../media/image108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5" Type="http://schemas.openxmlformats.org/officeDocument/2006/relationships/slide" Target="slide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9.png"/></Relationships>
</file>

<file path=ppt/slides/_rels/slide8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5" Type="http://schemas.openxmlformats.org/officeDocument/2006/relationships/slide" Target="slide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11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21" y="371489"/>
            <a:ext cx="11417300" cy="608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421" y="380934"/>
            <a:ext cx="1905000" cy="5842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77185" y="1841784"/>
            <a:ext cx="55168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200" dirty="0">
                <a:solidFill>
                  <a:schemeClr val="bg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</a:rPr>
              <a:t>北森招聘系统培训手册</a:t>
            </a:r>
            <a:endParaRPr kumimoji="1" lang="zh-CN" altLang="en-US" sz="4200" dirty="0">
              <a:solidFill>
                <a:schemeClr val="bg1"/>
              </a:solidFill>
              <a:latin typeface="FZLanTingHeiS-B-GB" panose="02000000000000000000" pitchFamily="2" charset="-122"/>
              <a:ea typeface="FZLanTingHeiS-B-GB" panose="02000000000000000000" pitchFamily="2" charset="-122"/>
            </a:endParaRPr>
          </a:p>
        </p:txBody>
      </p:sp>
      <p:sp>
        <p:nvSpPr>
          <p:cNvPr id="7" name="文本框 15"/>
          <p:cNvSpPr txBox="1"/>
          <p:nvPr/>
        </p:nvSpPr>
        <p:spPr>
          <a:xfrm>
            <a:off x="677185" y="2680057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（</a:t>
            </a:r>
            <a:r>
              <a:rPr kumimoji="1" lang="en-US" altLang="zh-CN" sz="2800" dirty="0">
                <a:solidFill>
                  <a:schemeClr val="bg1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HR</a:t>
            </a:r>
            <a:r>
              <a:rPr kumimoji="1" lang="zh-CN" altLang="en-US" sz="2800" dirty="0">
                <a:solidFill>
                  <a:schemeClr val="bg1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操作）</a:t>
            </a:r>
            <a:endParaRPr kumimoji="1" lang="zh-CN" altLang="en-US" sz="2800" dirty="0">
              <a:solidFill>
                <a:schemeClr val="bg1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sp>
        <p:nvSpPr>
          <p:cNvPr id="8" name="文本框 17"/>
          <p:cNvSpPr txBox="1"/>
          <p:nvPr/>
        </p:nvSpPr>
        <p:spPr>
          <a:xfrm>
            <a:off x="677185" y="4824764"/>
            <a:ext cx="10083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/>
                </a:solidFill>
                <a:latin typeface="Canaro Medium" pitchFamily="2" charset="0"/>
              </a:rPr>
              <a:t>2021.10</a:t>
            </a:r>
            <a:endParaRPr kumimoji="1" lang="zh-CN" altLang="en-US" sz="1400" dirty="0">
              <a:solidFill>
                <a:schemeClr val="bg1"/>
              </a:solidFill>
              <a:latin typeface="Canaro Medium" pitchFamily="2" charset="0"/>
            </a:endParaRPr>
          </a:p>
        </p:txBody>
      </p:sp>
      <p:sp>
        <p:nvSpPr>
          <p:cNvPr id="10" name="文本框 18"/>
          <p:cNvSpPr txBox="1"/>
          <p:nvPr/>
        </p:nvSpPr>
        <p:spPr>
          <a:xfrm>
            <a:off x="10240285" y="6269334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naro Book" pitchFamily="2" charset="0"/>
              </a:rPr>
              <a:t>www.beisen.com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anaro Book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387350"/>
            <a:ext cx="11417300" cy="60833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943940" y="1155354"/>
            <a:ext cx="3246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200" dirty="0">
                <a:solidFill>
                  <a:srgbClr val="00B0B9"/>
                </a:solidFill>
                <a:latin typeface="Canaro Medium" pitchFamily="2" charset="0"/>
              </a:rPr>
              <a:t>CONTENTS</a:t>
            </a:r>
            <a:endParaRPr kumimoji="1" lang="zh-CN" altLang="en-US" sz="4200" dirty="0">
              <a:solidFill>
                <a:srgbClr val="00B0B9"/>
              </a:solidFill>
              <a:latin typeface="Canaro Medium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43940" y="1898949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目录</a:t>
            </a:r>
            <a:endParaRPr kumimoji="1" lang="zh-CN" altLang="en-US" sz="35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grpSp>
        <p:nvGrpSpPr>
          <p:cNvPr id="46" name="组合 35"/>
          <p:cNvGrpSpPr/>
          <p:nvPr/>
        </p:nvGrpSpPr>
        <p:grpSpPr>
          <a:xfrm>
            <a:off x="6384032" y="1552566"/>
            <a:ext cx="1150673" cy="711592"/>
            <a:chOff x="2376550" y="982844"/>
            <a:chExt cx="959492" cy="695829"/>
          </a:xfrm>
        </p:grpSpPr>
        <p:sp>
          <p:nvSpPr>
            <p:cNvPr id="47" name="平行四边形 46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8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9" name="平行四边形 48">
            <a:hlinkClick r:id="rId2" action="ppaction://hlinksldjump"/>
          </p:cNvPr>
          <p:cNvSpPr/>
          <p:nvPr/>
        </p:nvSpPr>
        <p:spPr>
          <a:xfrm>
            <a:off x="7528507" y="1566533"/>
            <a:ext cx="3823875" cy="697625"/>
          </a:xfrm>
          <a:prstGeom prst="parallelogram">
            <a:avLst>
              <a:gd name="adj" fmla="val 48207"/>
            </a:avLst>
          </a:prstGeom>
          <a:solidFill>
            <a:srgbClr val="008E9D"/>
          </a:solidFill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" name="TextBox 7"/>
          <p:cNvSpPr txBox="1"/>
          <p:nvPr/>
        </p:nvSpPr>
        <p:spPr>
          <a:xfrm>
            <a:off x="8031152" y="1689398"/>
            <a:ext cx="35971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  <a:hlinkClick r:id="rId2" action="ppaction://hlinksldjump"/>
              </a:rPr>
              <a:t>登录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  <a:hlinkClick r:id="rId2" action="ppaction://hlinksldjump"/>
              </a:rPr>
              <a:t>准备</a:t>
            </a:r>
            <a:endParaRPr kumimoji="1" lang="zh-CN" altLang="en-US" sz="24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grpSp>
        <p:nvGrpSpPr>
          <p:cNvPr id="51" name="组合 60"/>
          <p:cNvGrpSpPr/>
          <p:nvPr/>
        </p:nvGrpSpPr>
        <p:grpSpPr>
          <a:xfrm>
            <a:off x="6384032" y="2790039"/>
            <a:ext cx="1150673" cy="711592"/>
            <a:chOff x="2376550" y="982844"/>
            <a:chExt cx="959492" cy="695829"/>
          </a:xfrm>
        </p:grpSpPr>
        <p:sp>
          <p:nvSpPr>
            <p:cNvPr id="52" name="平行四边形 51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53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4" name="平行四边形 53">
            <a:hlinkClick r:id="rId3" action="ppaction://hlinksldjump"/>
          </p:cNvPr>
          <p:cNvSpPr/>
          <p:nvPr/>
        </p:nvSpPr>
        <p:spPr>
          <a:xfrm>
            <a:off x="7528507" y="2774167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TextBox 7"/>
          <p:cNvSpPr txBox="1"/>
          <p:nvPr/>
        </p:nvSpPr>
        <p:spPr>
          <a:xfrm>
            <a:off x="8031151" y="2885593"/>
            <a:ext cx="3193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  <a:sym typeface="+mn-ea"/>
                <a:hlinkClick r:id="rId3" action="ppaction://hlinksldjump"/>
              </a:rPr>
              <a:t>招聘各阶段</a:t>
            </a:r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  <a:sym typeface="+mn-ea"/>
                <a:hlinkClick r:id="rId3" action="ppaction://hlinksldjump"/>
              </a:rPr>
              <a:t>操作指引</a:t>
            </a:r>
            <a:endParaRPr lang="zh-CN" altLang="en-US" sz="2400" b="1" dirty="0">
              <a:solidFill>
                <a:srgbClr val="83BCC1"/>
              </a:solidFill>
              <a:latin typeface="+mj-ea"/>
              <a:ea typeface="+mj-ea"/>
              <a:sym typeface="+mn-ea"/>
            </a:endParaRPr>
          </a:p>
        </p:txBody>
      </p:sp>
      <p:grpSp>
        <p:nvGrpSpPr>
          <p:cNvPr id="56" name="组合 64"/>
          <p:cNvGrpSpPr/>
          <p:nvPr/>
        </p:nvGrpSpPr>
        <p:grpSpPr>
          <a:xfrm>
            <a:off x="6384032" y="4013552"/>
            <a:ext cx="1150673" cy="711592"/>
            <a:chOff x="2376550" y="982844"/>
            <a:chExt cx="959492" cy="695829"/>
          </a:xfrm>
        </p:grpSpPr>
        <p:sp>
          <p:nvSpPr>
            <p:cNvPr id="57" name="平行四边形 56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58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9" name="平行四边形 58"/>
          <p:cNvSpPr/>
          <p:nvPr/>
        </p:nvSpPr>
        <p:spPr>
          <a:xfrm>
            <a:off x="7528507" y="4013554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0" name="TextBox 7"/>
          <p:cNvSpPr txBox="1"/>
          <p:nvPr/>
        </p:nvSpPr>
        <p:spPr>
          <a:xfrm>
            <a:off x="8032832" y="4136660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  <a:hlinkClick r:id="rId4" action="ppaction://hlinksldjump"/>
              </a:rPr>
              <a:t>重点事项强调</a:t>
            </a:r>
            <a:endParaRPr lang="zh-CN" altLang="en-US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  <p:grpSp>
        <p:nvGrpSpPr>
          <p:cNvPr id="14" name="组合 64"/>
          <p:cNvGrpSpPr/>
          <p:nvPr/>
        </p:nvGrpSpPr>
        <p:grpSpPr>
          <a:xfrm>
            <a:off x="6324342" y="5179412"/>
            <a:ext cx="1150673" cy="711592"/>
            <a:chOff x="2376550" y="982844"/>
            <a:chExt cx="959492" cy="695829"/>
          </a:xfrm>
        </p:grpSpPr>
        <p:sp>
          <p:nvSpPr>
            <p:cNvPr id="15" name="平行四边形 14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16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7" name="平行四边形 16"/>
          <p:cNvSpPr/>
          <p:nvPr/>
        </p:nvSpPr>
        <p:spPr>
          <a:xfrm>
            <a:off x="7528507" y="5159729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8032832" y="5282835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  <a:hlinkClick r:id="rId5" action="ppaction://hlinksldjump"/>
              </a:rPr>
              <a:t>常见</a:t>
            </a:r>
            <a:r>
              <a:rPr lang="en-US" altLang="zh-CN" sz="2400" b="1" dirty="0">
                <a:solidFill>
                  <a:srgbClr val="83BCC1"/>
                </a:solidFill>
                <a:latin typeface="+mj-ea"/>
                <a:ea typeface="+mj-ea"/>
                <a:hlinkClick r:id="rId5" action="ppaction://hlinksldjump"/>
              </a:rPr>
              <a:t>Q&amp;A</a:t>
            </a:r>
            <a:endParaRPr lang="en-US" altLang="zh-CN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651510" y="1348740"/>
            <a:ext cx="645096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zh-CN" sz="1800" dirty="0">
                <a:latin typeface="+mj-ea"/>
                <a:ea typeface="+mj-ea"/>
              </a:rPr>
              <a:t>1</a:t>
            </a:r>
            <a:r>
              <a:rPr lang="zh-CN" altLang="en-US" sz="1800" dirty="0">
                <a:latin typeface="+mj-ea"/>
                <a:ea typeface="+mj-ea"/>
              </a:rPr>
              <a:t>、登录</a:t>
            </a:r>
            <a:r>
              <a:rPr lang="zh-CN" altLang="en-US" sz="1800" dirty="0">
                <a:latin typeface="+mj-ea"/>
                <a:ea typeface="+mj-ea"/>
              </a:rPr>
              <a:t>环境要求：</a:t>
            </a:r>
            <a:endParaRPr lang="en-US" altLang="zh-CN" sz="1800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800" dirty="0">
                <a:latin typeface="+mj-ea"/>
                <a:ea typeface="+mj-ea"/>
              </a:rPr>
              <a:t>浏览器：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谷歌浏览器</a:t>
            </a:r>
            <a:endParaRPr lang="zh-CN" altLang="en-US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800" dirty="0">
                <a:latin typeface="+mj-ea"/>
                <a:ea typeface="+mj-ea"/>
              </a:rPr>
              <a:t>最低网速：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30  KB/s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en-US" altLang="zh-CN" sz="1800" dirty="0">
                <a:solidFill>
                  <a:schemeClr val="tx1"/>
                </a:solidFill>
                <a:latin typeface="+mj-ea"/>
              </a:rPr>
              <a:t> K</a:t>
            </a:r>
            <a:r>
              <a:rPr lang="en-US" altLang="zh-CN" sz="1800" dirty="0">
                <a:latin typeface="+mj-ea"/>
              </a:rPr>
              <a:t>B/s</a:t>
            </a:r>
            <a:r>
              <a:rPr lang="zh-CN" altLang="en-US" sz="1800" dirty="0">
                <a:latin typeface="+mj-ea"/>
                <a:ea typeface="+mj-ea"/>
              </a:rPr>
              <a:t>以上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（最佳体验）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登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录方式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登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录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网址：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https://www.italent.cn/</a:t>
            </a:r>
            <a:endParaRPr lang="en-US" altLang="zh-CN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账号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：员工的企业邮箱</a:t>
            </a:r>
            <a:endParaRPr lang="zh-CN" altLang="en-US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密码：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无初始密码，可点击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忘记密码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设置新密码（如图）</a:t>
            </a:r>
            <a:endParaRPr lang="zh-CN" altLang="en-US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endParaRPr lang="zh-CN" altLang="en-US" sz="1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1604" y="326942"/>
            <a:ext cx="170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登录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准备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080" y="1348740"/>
            <a:ext cx="4815840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774700" y="1205230"/>
            <a:ext cx="108070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zh-CN" sz="1800" dirty="0">
                <a:latin typeface="+mj-ea"/>
                <a:ea typeface="+mj-ea"/>
                <a:sym typeface="+mn-ea"/>
              </a:rPr>
              <a:t>3</a:t>
            </a:r>
            <a:r>
              <a:rPr lang="zh-CN" altLang="en-US" sz="1800" dirty="0">
                <a:latin typeface="+mj-ea"/>
                <a:ea typeface="+mj-ea"/>
                <a:sym typeface="+mn-ea"/>
              </a:rPr>
              <a:t>、点击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招聘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”</a:t>
            </a:r>
            <a:r>
              <a:rPr lang="zh-CN" altLang="en-US" sz="1800" dirty="0">
                <a:latin typeface="+mj-ea"/>
                <a:ea typeface="+mj-ea"/>
                <a:sym typeface="+mn-ea"/>
              </a:rPr>
              <a:t>，进入招聘后台，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最新版本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talent eye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</a:t>
            </a:r>
            <a:r>
              <a:rPr lang="zh-CN" altLang="en-US" sz="1800" dirty="0">
                <a:latin typeface="+mj-ea"/>
                <a:ea typeface="+mj-ea"/>
                <a:sym typeface="+mn-ea"/>
              </a:rPr>
              <a:t>（安装方式见下两页）</a:t>
            </a:r>
            <a:endParaRPr lang="zh-CN" altLang="en-US" sz="1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1604" y="326942"/>
            <a:ext cx="170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登录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准备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35" y="1836420"/>
            <a:ext cx="9507220" cy="43300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44880" y="1115060"/>
            <a:ext cx="10302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S1</a:t>
            </a:r>
            <a:r>
              <a:rPr lang="zh-CN" altLang="en-US" dirty="0">
                <a:latin typeface="+mj-ea"/>
                <a:ea typeface="+mj-ea"/>
              </a:rPr>
              <a:t>：点击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“网络搜索”</a:t>
            </a:r>
            <a:r>
              <a:rPr lang="en-US" altLang="zh-CN" dirty="0">
                <a:latin typeface="+mj-ea"/>
                <a:ea typeface="+mj-ea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“点击下载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</a:rPr>
              <a:t>Talent Eye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en-US" altLang="zh-CN" dirty="0">
                <a:latin typeface="+mj-ea"/>
                <a:ea typeface="+mj-ea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</a:rPr>
              <a:t>Talent Eye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的安装”</a:t>
            </a:r>
            <a:r>
              <a:rPr lang="zh-CN" altLang="en-US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，</a:t>
            </a:r>
            <a:r>
              <a:rPr lang="zh-CN" altLang="en-US" sz="1800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将</a:t>
            </a:r>
            <a:r>
              <a:rPr lang="zh-CN" altLang="en-US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下载好的</a:t>
            </a:r>
            <a:r>
              <a:rPr lang="en-US" altLang="zh-CN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talent eye</a:t>
            </a:r>
            <a:r>
              <a:rPr lang="zh-CN" altLang="en-US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插件</a:t>
            </a:r>
            <a:r>
              <a:rPr lang="zh-CN" altLang="en-US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按照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”Talent Eye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安装步骤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”</a:t>
            </a:r>
            <a:r>
              <a:rPr lang="zh-CN" altLang="en-US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安装上</a:t>
            </a:r>
            <a:r>
              <a:rPr lang="zh-CN" altLang="en-US" dirty="0">
                <a:solidFill>
                  <a:srgbClr val="0D989B"/>
                </a:solidFill>
                <a:latin typeface="+mj-ea"/>
                <a:ea typeface="+mj-ea"/>
                <a:sym typeface="+mn-ea"/>
              </a:rPr>
              <a:t>。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仅首次使用时需要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安装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3611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Talent Eye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插件安装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705" y="2130425"/>
            <a:ext cx="8592820" cy="4512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2085" y="2476500"/>
            <a:ext cx="160337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S2</a:t>
            </a:r>
            <a:r>
              <a:rPr lang="zh-CN" altLang="en-US" dirty="0">
                <a:latin typeface="+mj-ea"/>
                <a:ea typeface="+mj-ea"/>
              </a:rPr>
              <a:t>：在</a:t>
            </a:r>
            <a:r>
              <a:rPr lang="en-US" altLang="zh-CN" dirty="0">
                <a:latin typeface="+mj-ea"/>
                <a:ea typeface="+mj-ea"/>
              </a:rPr>
              <a:t>Google Chrome</a:t>
            </a:r>
            <a:r>
              <a:rPr lang="zh-CN" altLang="en-US" dirty="0">
                <a:latin typeface="+mj-ea"/>
                <a:ea typeface="+mj-ea"/>
              </a:rPr>
              <a:t>浏览器的桌面快捷方式上鼠标右键，选择属性</a:t>
            </a:r>
            <a:r>
              <a:rPr lang="en-US" altLang="zh-CN" dirty="0">
                <a:latin typeface="+mj-ea"/>
                <a:ea typeface="+mj-ea"/>
              </a:rPr>
              <a:t>(R)</a:t>
            </a:r>
            <a:r>
              <a:rPr lang="zh-CN" altLang="en-US" dirty="0">
                <a:latin typeface="+mj-ea"/>
                <a:ea typeface="+mj-ea"/>
              </a:rPr>
              <a:t>，进入如下界面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240711"/>
            <a:ext cx="3621931" cy="5356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5684019" y="2233439"/>
            <a:ext cx="2360439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在目标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后添加参数  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--enable-easy-off-store-extension-install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dirty="0">
                <a:solidFill>
                  <a:srgbClr val="F33B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注意在添加参数之前，要有个空格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），添加完之后点击确认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S4：安装完成后重启浏览器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057" y="1240711"/>
            <a:ext cx="3621932" cy="53566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3611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Talent Eye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插件安装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387350"/>
            <a:ext cx="11417300" cy="6083300"/>
          </a:xfrm>
          <a:prstGeom prst="rect">
            <a:avLst/>
          </a:prstGeom>
        </p:spPr>
      </p:pic>
      <p:sp>
        <p:nvSpPr>
          <p:cNvPr id="26" name="文本框 28"/>
          <p:cNvSpPr txBox="1"/>
          <p:nvPr/>
        </p:nvSpPr>
        <p:spPr>
          <a:xfrm>
            <a:off x="2943940" y="1155354"/>
            <a:ext cx="3246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200" dirty="0">
                <a:solidFill>
                  <a:srgbClr val="00B0B9"/>
                </a:solidFill>
                <a:latin typeface="Canaro Medium" pitchFamily="2" charset="0"/>
              </a:rPr>
              <a:t>CONTENTS</a:t>
            </a:r>
            <a:endParaRPr kumimoji="1" lang="zh-CN" altLang="en-US" sz="4200" dirty="0">
              <a:solidFill>
                <a:srgbClr val="00B0B9"/>
              </a:solidFill>
              <a:latin typeface="Canaro Medium" pitchFamily="2" charset="0"/>
            </a:endParaRPr>
          </a:p>
        </p:txBody>
      </p:sp>
      <p:sp>
        <p:nvSpPr>
          <p:cNvPr id="27" name="文本框 30"/>
          <p:cNvSpPr txBox="1"/>
          <p:nvPr/>
        </p:nvSpPr>
        <p:spPr>
          <a:xfrm>
            <a:off x="2943940" y="1898949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目录</a:t>
            </a:r>
            <a:endParaRPr kumimoji="1" lang="zh-CN" altLang="en-US" sz="35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grpSp>
        <p:nvGrpSpPr>
          <p:cNvPr id="28" name="组合 35"/>
          <p:cNvGrpSpPr/>
          <p:nvPr/>
        </p:nvGrpSpPr>
        <p:grpSpPr>
          <a:xfrm>
            <a:off x="6384032" y="1552566"/>
            <a:ext cx="1150673" cy="711592"/>
            <a:chOff x="2376550" y="982844"/>
            <a:chExt cx="959492" cy="695829"/>
          </a:xfrm>
        </p:grpSpPr>
        <p:sp>
          <p:nvSpPr>
            <p:cNvPr id="29" name="平行四边形 28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30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3" name="平行四边形 32"/>
          <p:cNvSpPr/>
          <p:nvPr/>
        </p:nvSpPr>
        <p:spPr>
          <a:xfrm>
            <a:off x="7528507" y="1566533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7"/>
          <p:cNvSpPr txBox="1"/>
          <p:nvPr/>
        </p:nvSpPr>
        <p:spPr>
          <a:xfrm>
            <a:off x="8033057" y="1685588"/>
            <a:ext cx="35971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3CC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rgbClr val="83BCC1"/>
                </a:solidFill>
              </a:rPr>
              <a:t>登录</a:t>
            </a:r>
            <a:r>
              <a:rPr lang="zh-CN" altLang="en-US" dirty="0">
                <a:solidFill>
                  <a:srgbClr val="83BCC1"/>
                </a:solidFill>
              </a:rPr>
              <a:t>准备</a:t>
            </a:r>
            <a:endParaRPr lang="zh-CN" altLang="en-US" dirty="0">
              <a:solidFill>
                <a:srgbClr val="83BCC1"/>
              </a:solidFill>
            </a:endParaRPr>
          </a:p>
        </p:txBody>
      </p:sp>
      <p:grpSp>
        <p:nvGrpSpPr>
          <p:cNvPr id="36" name="组合 60"/>
          <p:cNvGrpSpPr/>
          <p:nvPr/>
        </p:nvGrpSpPr>
        <p:grpSpPr>
          <a:xfrm>
            <a:off x="6384032" y="2790039"/>
            <a:ext cx="1150673" cy="711592"/>
            <a:chOff x="2376550" y="982844"/>
            <a:chExt cx="959492" cy="695829"/>
          </a:xfrm>
        </p:grpSpPr>
        <p:sp>
          <p:nvSpPr>
            <p:cNvPr id="37" name="平行四边形 36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0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1" name="平行四边形 40"/>
          <p:cNvSpPr/>
          <p:nvPr/>
        </p:nvSpPr>
        <p:spPr>
          <a:xfrm>
            <a:off x="7528507" y="2790042"/>
            <a:ext cx="3823875" cy="697625"/>
          </a:xfrm>
          <a:prstGeom prst="parallelogram">
            <a:avLst>
              <a:gd name="adj" fmla="val 48207"/>
            </a:avLst>
          </a:prstGeom>
          <a:solidFill>
            <a:srgbClr val="008E9D"/>
          </a:solidFill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7"/>
          <p:cNvSpPr txBox="1"/>
          <p:nvPr/>
        </p:nvSpPr>
        <p:spPr>
          <a:xfrm>
            <a:off x="8031151" y="2885593"/>
            <a:ext cx="3193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招聘各阶段操作指引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4" name="组合 64"/>
          <p:cNvGrpSpPr/>
          <p:nvPr/>
        </p:nvGrpSpPr>
        <p:grpSpPr>
          <a:xfrm>
            <a:off x="6384032" y="4029427"/>
            <a:ext cx="1150673" cy="711592"/>
            <a:chOff x="2376550" y="982844"/>
            <a:chExt cx="959492" cy="695829"/>
          </a:xfrm>
        </p:grpSpPr>
        <p:sp>
          <p:nvSpPr>
            <p:cNvPr id="45" name="平行四边形 44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6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7" name="平行四边形 46"/>
          <p:cNvSpPr/>
          <p:nvPr/>
        </p:nvSpPr>
        <p:spPr>
          <a:xfrm>
            <a:off x="7528507" y="4013554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" name="TextBox 7"/>
          <p:cNvSpPr txBox="1"/>
          <p:nvPr/>
        </p:nvSpPr>
        <p:spPr>
          <a:xfrm>
            <a:off x="8032832" y="4136660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</a:rPr>
              <a:t>重点事项强调</a:t>
            </a:r>
            <a:endParaRPr lang="zh-CN" altLang="en-US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7060843" y="5551522"/>
            <a:ext cx="834981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35" name="组合 64"/>
          <p:cNvGrpSpPr/>
          <p:nvPr/>
        </p:nvGrpSpPr>
        <p:grpSpPr>
          <a:xfrm>
            <a:off x="6384032" y="5274027"/>
            <a:ext cx="1150673" cy="711592"/>
            <a:chOff x="2376550" y="982844"/>
            <a:chExt cx="959492" cy="695829"/>
          </a:xfrm>
        </p:grpSpPr>
        <p:sp>
          <p:nvSpPr>
            <p:cNvPr id="38" name="平行四边形 37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39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2" name="平行四边形 41"/>
          <p:cNvSpPr/>
          <p:nvPr/>
        </p:nvSpPr>
        <p:spPr>
          <a:xfrm>
            <a:off x="7528507" y="5287999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7895672" y="5407295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</a:rPr>
              <a:t>常见</a:t>
            </a:r>
            <a:r>
              <a:rPr lang="en-US" altLang="zh-CN" sz="2400" b="1" dirty="0">
                <a:solidFill>
                  <a:srgbClr val="83BCC1"/>
                </a:solidFill>
                <a:latin typeface="+mj-ea"/>
                <a:ea typeface="+mj-ea"/>
              </a:rPr>
              <a:t>Q&amp;A</a:t>
            </a:r>
            <a:endParaRPr lang="en-US" altLang="zh-CN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387350"/>
            <a:ext cx="11417300" cy="6083300"/>
          </a:xfrm>
          <a:prstGeom prst="rect">
            <a:avLst/>
          </a:prstGeom>
        </p:spPr>
      </p:pic>
      <p:cxnSp>
        <p:nvCxnSpPr>
          <p:cNvPr id="5" name="直线连接符 4"/>
          <p:cNvCxnSpPr/>
          <p:nvPr/>
        </p:nvCxnSpPr>
        <p:spPr bwMode="auto">
          <a:xfrm>
            <a:off x="6672446" y="1619915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文本框 5">
            <a:hlinkClick r:id="rId2" action="ppaction://hlinksldjump"/>
          </p:cNvPr>
          <p:cNvSpPr txBox="1"/>
          <p:nvPr/>
        </p:nvSpPr>
        <p:spPr>
          <a:xfrm>
            <a:off x="6672580" y="1234440"/>
            <a:ext cx="2672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1 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2" action="ppaction://hlinksldjump"/>
              </a:rPr>
              <a:t>职位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cxnSp>
        <p:nvCxnSpPr>
          <p:cNvPr id="31" name="直线连接符 30"/>
          <p:cNvCxnSpPr/>
          <p:nvPr/>
        </p:nvCxnSpPr>
        <p:spPr bwMode="auto">
          <a:xfrm>
            <a:off x="6673081" y="2820590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文本框 31">
            <a:hlinkClick r:id="rId3" action="ppaction://hlinksldjump"/>
          </p:cNvPr>
          <p:cNvSpPr txBox="1"/>
          <p:nvPr/>
        </p:nvSpPr>
        <p:spPr>
          <a:xfrm>
            <a:off x="6671310" y="1854835"/>
            <a:ext cx="252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2 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3" action="ppaction://hlinksldjump"/>
              </a:rPr>
              <a:t>广告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cxnSp>
        <p:nvCxnSpPr>
          <p:cNvPr id="35" name="直线连接符 34"/>
          <p:cNvCxnSpPr/>
          <p:nvPr/>
        </p:nvCxnSpPr>
        <p:spPr bwMode="auto">
          <a:xfrm>
            <a:off x="6672446" y="2223280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文本框 37">
            <a:hlinkClick r:id="rId4" action="ppaction://hlinksldjump"/>
          </p:cNvPr>
          <p:cNvSpPr txBox="1"/>
          <p:nvPr/>
        </p:nvSpPr>
        <p:spPr>
          <a:xfrm>
            <a:off x="6673215" y="2452370"/>
            <a:ext cx="2672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3 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4" action="ppaction://hlinksldjump"/>
              </a:rPr>
              <a:t>获取简历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cxnSp>
        <p:nvCxnSpPr>
          <p:cNvPr id="39" name="直线连接符 38"/>
          <p:cNvCxnSpPr/>
          <p:nvPr/>
        </p:nvCxnSpPr>
        <p:spPr bwMode="auto">
          <a:xfrm>
            <a:off x="6673081" y="3398374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文本框 41"/>
          <p:cNvSpPr txBox="1"/>
          <p:nvPr/>
        </p:nvSpPr>
        <p:spPr>
          <a:xfrm>
            <a:off x="6671429" y="3030510"/>
            <a:ext cx="2520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 </a:t>
            </a:r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4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 </a:t>
            </a:r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5" action="ppaction://hlinksldjump"/>
              </a:rPr>
              <a:t>筛选简历</a:t>
            </a:r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 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cxnSp>
        <p:nvCxnSpPr>
          <p:cNvPr id="48" name="直线连接符 47"/>
          <p:cNvCxnSpPr/>
          <p:nvPr/>
        </p:nvCxnSpPr>
        <p:spPr bwMode="auto">
          <a:xfrm>
            <a:off x="6673317" y="4045022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文本框 48"/>
          <p:cNvSpPr txBox="1"/>
          <p:nvPr/>
        </p:nvSpPr>
        <p:spPr>
          <a:xfrm>
            <a:off x="6673334" y="3676523"/>
            <a:ext cx="22322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5 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6" action="ppaction://hlinksldjump"/>
              </a:rPr>
              <a:t>安排面试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cxnSp>
        <p:nvCxnSpPr>
          <p:cNvPr id="50" name="直线连接符 49"/>
          <p:cNvCxnSpPr/>
          <p:nvPr/>
        </p:nvCxnSpPr>
        <p:spPr bwMode="auto">
          <a:xfrm>
            <a:off x="6670541" y="4678025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文本框 50"/>
          <p:cNvSpPr txBox="1"/>
          <p:nvPr/>
        </p:nvSpPr>
        <p:spPr>
          <a:xfrm>
            <a:off x="6670675" y="4309745"/>
            <a:ext cx="252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6 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7" action="ppaction://hlinksldjump"/>
              </a:rPr>
              <a:t>社招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rId7" action="ppaction://hlinksldjump"/>
              </a:rPr>
              <a:t>测评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  <a:hlinkClick r:id="rId7" action="ppaction://hlinksldjump"/>
            </a:endParaRPr>
          </a:p>
        </p:txBody>
      </p:sp>
      <p:cxnSp>
        <p:nvCxnSpPr>
          <p:cNvPr id="9" name="直线连接符 8"/>
          <p:cNvCxnSpPr/>
          <p:nvPr/>
        </p:nvCxnSpPr>
        <p:spPr bwMode="auto">
          <a:xfrm>
            <a:off x="6096000" y="1162859"/>
            <a:ext cx="0" cy="4850596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平行四边形 55"/>
          <p:cNvSpPr/>
          <p:nvPr/>
        </p:nvSpPr>
        <p:spPr>
          <a:xfrm>
            <a:off x="2189452" y="1199562"/>
            <a:ext cx="3823875" cy="697625"/>
          </a:xfrm>
          <a:prstGeom prst="parallelogram">
            <a:avLst>
              <a:gd name="adj" fmla="val 48207"/>
            </a:avLst>
          </a:prstGeom>
          <a:solidFill>
            <a:srgbClr val="008E9D"/>
          </a:solidFill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TextBox 7"/>
          <p:cNvSpPr txBox="1"/>
          <p:nvPr/>
        </p:nvSpPr>
        <p:spPr>
          <a:xfrm>
            <a:off x="2693777" y="1322668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招聘系统介绍</a:t>
            </a:r>
            <a:endParaRPr 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" name="直线连接符 49"/>
          <p:cNvCxnSpPr/>
          <p:nvPr/>
        </p:nvCxnSpPr>
        <p:spPr bwMode="auto">
          <a:xfrm>
            <a:off x="6671811" y="5307310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文本框 2"/>
          <p:cNvSpPr txBox="1"/>
          <p:nvPr/>
        </p:nvSpPr>
        <p:spPr>
          <a:xfrm>
            <a:off x="6671945" y="4939030"/>
            <a:ext cx="252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7  </a:t>
            </a:r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offer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管理</a:t>
            </a:r>
            <a:endParaRPr kumimoji="1" lang="zh-CN" altLang="en-US" b="1" dirty="0"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cxnSp>
        <p:nvCxnSpPr>
          <p:cNvPr id="4" name="直线连接符 49"/>
          <p:cNvCxnSpPr/>
          <p:nvPr/>
        </p:nvCxnSpPr>
        <p:spPr bwMode="auto">
          <a:xfrm>
            <a:off x="6673081" y="5864840"/>
            <a:ext cx="18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文本框 6"/>
          <p:cNvSpPr txBox="1"/>
          <p:nvPr/>
        </p:nvSpPr>
        <p:spPr>
          <a:xfrm>
            <a:off x="6673215" y="5496560"/>
            <a:ext cx="5285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latin typeface="FZLanTingHeiS-DB-GB" panose="02000000000000000000" pitchFamily="2" charset="-122"/>
                <a:ea typeface="FZLanTingHeiS-DB-GB" panose="02000000000000000000" pitchFamily="2" charset="-122"/>
              </a:rPr>
              <a:t>PART 8  </a:t>
            </a:r>
            <a:r>
              <a:rPr kumimoji="1" lang="zh-CN" altLang="en-US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入职管理</a:t>
            </a:r>
            <a:r>
              <a:rPr kumimoji="1" lang="en-US" altLang="zh-CN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(</a:t>
            </a:r>
            <a:r>
              <a:rPr kumimoji="1" lang="zh-CN" altLang="en-US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通知信息采集</a:t>
            </a:r>
            <a:r>
              <a:rPr kumimoji="1" lang="en-US" altLang="zh-CN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/</a:t>
            </a:r>
            <a:r>
              <a:rPr kumimoji="1" lang="zh-CN" altLang="en-US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延期入职</a:t>
            </a:r>
            <a:r>
              <a:rPr kumimoji="1" lang="en-US" altLang="zh-CN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/</a:t>
            </a:r>
            <a:r>
              <a:rPr kumimoji="1" lang="zh-CN" altLang="en-US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取消入职</a:t>
            </a:r>
            <a:r>
              <a:rPr kumimoji="1" lang="en-US" altLang="zh-CN" sz="1500" b="1" dirty="0">
                <a:latin typeface="FZLanTingHeiS-DB-GB" panose="02000000000000000000" pitchFamily="2" charset="-122"/>
                <a:ea typeface="FZLanTingHeiS-DB-GB" panose="02000000000000000000" pitchFamily="2" charset="-122"/>
                <a:hlinkClick r:id=""/>
              </a:rPr>
              <a:t>)</a:t>
            </a:r>
            <a:endParaRPr kumimoji="1" lang="en-US" altLang="zh-CN" sz="1500" b="1" dirty="0">
              <a:latin typeface="FZLanTingHeiS-DB-GB" panose="02000000000000000000" pitchFamily="2" charset="-122"/>
              <a:ea typeface="FZLanTingHeiS-DB-GB" panose="02000000000000000000" pitchFamily="2" charset="-122"/>
              <a:hlinkClick r:id="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职位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8" name="文本框 46"/>
          <p:cNvSpPr txBox="1"/>
          <p:nvPr/>
        </p:nvSpPr>
        <p:spPr>
          <a:xfrm>
            <a:off x="651604" y="326942"/>
            <a:ext cx="3992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创建职位</a:t>
            </a:r>
            <a:r>
              <a:rPr kumimoji="1"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必不可少）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 bwMode="auto">
          <a:xfrm>
            <a:off x="1919536" y="1412776"/>
            <a:ext cx="1224136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1365" y="1249045"/>
            <a:ext cx="11044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：点击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进行创建职位。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325" y="1933575"/>
            <a:ext cx="8594725" cy="433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01126" y="1196752"/>
            <a:ext cx="10081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填写职位的基本信息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19900" y="1339215"/>
            <a:ext cx="5122545" cy="489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需要注意的内容：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带”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“为必填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，其他选填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选择简历收取邮箱：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hr_sz@dreame.tech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（适用苏州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北京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深圳）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hr_sh@dreame.tech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（适用上海）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作用：当招聘网站的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岗位名称（含职位编号）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收取邮箱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与北森系统完全一致，主投简历可被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抓取进系统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.职位请各自建立，不要添加共享者；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如职位共享，操作同一职位的人的简历会无法区分，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以及该职位下的招聘数据无法计入对应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名下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.选对招聘过程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，校招流程与社招流程不一致，默认为社招流程。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创建职位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721485"/>
            <a:ext cx="5773420" cy="412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767080" y="1699260"/>
            <a:ext cx="43764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如部门名后面已标注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（停用）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，请不要再选择，而选择停用部门的上一级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部门。</a:t>
            </a:r>
            <a:endParaRPr lang="zh-CN" altLang="en-US" sz="1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  <a:sym typeface="+mn-ea"/>
              </a:rPr>
              <a:t>涉及部门选择的环节</a:t>
            </a:r>
            <a:r>
              <a:rPr lang="zh-CN" altLang="en-US" sz="1400" b="1" dirty="0">
                <a:latin typeface="+mj-ea"/>
                <a:ea typeface="+mj-ea"/>
                <a:sym typeface="+mn-ea"/>
              </a:rPr>
              <a:t>是：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400" b="1" dirty="0">
                <a:latin typeface="+mj-ea"/>
                <a:ea typeface="+mj-ea"/>
                <a:sym typeface="+mn-ea"/>
              </a:rPr>
              <a:t>1.</a:t>
            </a:r>
            <a:r>
              <a:rPr lang="zh-CN" altLang="en-US" sz="1400" b="1" dirty="0">
                <a:latin typeface="+mj-ea"/>
                <a:ea typeface="+mj-ea"/>
                <a:sym typeface="+mn-ea"/>
              </a:rPr>
              <a:t>新建职位界面的【需求部门】</a:t>
            </a:r>
            <a:r>
              <a:rPr lang="en-US" altLang="zh-CN" sz="1400" b="1" dirty="0">
                <a:latin typeface="+mj-ea"/>
                <a:ea typeface="+mj-ea"/>
                <a:sym typeface="+mn-ea"/>
              </a:rPr>
              <a:t>       </a:t>
            </a:r>
            <a:endParaRPr lang="en-US" altLang="zh-CN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400" b="1" dirty="0">
                <a:latin typeface="+mj-ea"/>
                <a:ea typeface="+mj-ea"/>
                <a:sym typeface="+mn-ea"/>
              </a:rPr>
              <a:t> 2.offer</a:t>
            </a:r>
            <a:r>
              <a:rPr lang="zh-CN" altLang="en-US" sz="1400" b="1" dirty="0">
                <a:latin typeface="+mj-ea"/>
                <a:ea typeface="+mj-ea"/>
                <a:sym typeface="+mn-ea"/>
              </a:rPr>
              <a:t>编辑界面的【录用部门】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endParaRPr lang="zh-CN" altLang="en-US" sz="1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基于以上，落到的部门越具体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越好。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请千万不要只选到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追觅科技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哦！</a:t>
            </a:r>
            <a:endParaRPr lang="zh-CN" altLang="en-US" sz="1400" b="1" dirty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  <a:p>
            <a:pPr latinLnBrk="0">
              <a:lnSpc>
                <a:spcPct val="150000"/>
              </a:lnSpc>
            </a:pP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举例：以</a:t>
            </a:r>
            <a:r>
              <a:rPr lang="en-US" altLang="zh-CN" sz="1400" dirty="0">
                <a:latin typeface="+mj-ea"/>
                <a:ea typeface="+mj-ea"/>
              </a:rPr>
              <a:t>offer</a:t>
            </a:r>
            <a:r>
              <a:rPr lang="zh-CN" altLang="en-US" sz="1400" dirty="0">
                <a:latin typeface="+mj-ea"/>
                <a:ea typeface="+mj-ea"/>
              </a:rPr>
              <a:t>编辑</a:t>
            </a:r>
            <a:r>
              <a:rPr lang="zh-CN" altLang="en-US" sz="1400" dirty="0">
                <a:latin typeface="+mj-ea"/>
                <a:ea typeface="+mj-ea"/>
              </a:rPr>
              <a:t>为例，原</a:t>
            </a:r>
            <a:r>
              <a:rPr lang="zh-CN" altLang="en-US" sz="1400" dirty="0">
                <a:latin typeface="+mj-ea"/>
                <a:ea typeface="+mj-ea"/>
              </a:rPr>
              <a:t>来选品质部售后维修的，请不要再选择</a:t>
            </a:r>
            <a:r>
              <a:rPr lang="en-US" altLang="zh-CN" sz="1400" dirty="0">
                <a:latin typeface="+mj-ea"/>
                <a:ea typeface="+mj-ea"/>
              </a:rPr>
              <a:t>“</a:t>
            </a:r>
            <a:r>
              <a:rPr lang="zh-CN" altLang="en-US" sz="1400" dirty="0">
                <a:latin typeface="+mj-ea"/>
                <a:ea typeface="+mj-ea"/>
              </a:rPr>
              <a:t>售后维修（停用）</a:t>
            </a:r>
            <a:r>
              <a:rPr lang="en-US" altLang="zh-CN" sz="1400" dirty="0">
                <a:latin typeface="+mj-ea"/>
                <a:ea typeface="+mj-ea"/>
              </a:rPr>
              <a:t>”</a:t>
            </a:r>
            <a:r>
              <a:rPr lang="zh-CN" altLang="en-US" sz="1400" dirty="0">
                <a:latin typeface="+mj-ea"/>
                <a:ea typeface="+mj-ea"/>
              </a:rPr>
              <a:t>，而选择【品质部】即可。（其他部门同理哈~）</a:t>
            </a:r>
            <a:endParaRPr lang="zh-CN" altLang="en-US" sz="1400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1510" y="327025"/>
            <a:ext cx="40443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关于部门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选择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810" y="1412240"/>
            <a:ext cx="5671820" cy="4803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890" y="1844824"/>
            <a:ext cx="7640955" cy="2428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45" y="4283794"/>
            <a:ext cx="7670800" cy="2241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1"/>
          <p:cNvSpPr txBox="1"/>
          <p:nvPr/>
        </p:nvSpPr>
        <p:spPr>
          <a:xfrm>
            <a:off x="8853367" y="3950533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注：一旦有应聘者简历进入该职位，招聘流程将无法更改！！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职位信息更改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74700" y="1128039"/>
            <a:ext cx="10081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任何时候如果需要调整职位信息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都可以点击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“职位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点击具体职位名称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职位详情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修改职位信息。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5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职位状态变更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601345" y="1196975"/>
            <a:ext cx="11090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当职位招聘满足公司用人需求后，或者需要暂停该职位招聘，可以将职位的招聘状态从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“招聘中”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改成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“已暂停”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“已结束”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395" y="2014686"/>
            <a:ext cx="8953500" cy="4438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广告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59155" y="1173480"/>
            <a:ext cx="109461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首次发布的职位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职位信息填写完成后，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进入发布广告界面，将职位一站式发布到我们使用的第三方招聘网站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（支持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猎聘网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/boss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直聘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前程无忧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智联招聘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拉勾网/实习僧网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...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已在招聘网站发布的职位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——只要确保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岗位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（含职位编号）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及收取邮箱一致，此处就无须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再次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发布广告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如果不慎关闭界面或者历史职位需要发布广告，请点击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具体职位名称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之后，选择顶部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“发布广告”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按钮。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20" y="2875915"/>
            <a:ext cx="8665210" cy="3982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32624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进入广告发布页面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渠道账号绑定</a:t>
            </a:r>
            <a:endParaRPr kumimoji="1" lang="zh-CN" altLang="en-US" sz="3000" dirty="0">
              <a:solidFill>
                <a:srgbClr val="FF0000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06475" y="1220470"/>
            <a:ext cx="106222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首次发布广告到我们使用的第三方招聘网站时，需要提前绑定渠道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账号信息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点击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“添加新渠道”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，选择招聘网站（用关键字搜索时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需区分大小写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），填写会员名、用户名、密码、账号别名，然后点击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“确定”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即可完成渠道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添加。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75" y="2537460"/>
            <a:ext cx="8859520" cy="421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5" y="1366799"/>
            <a:ext cx="100811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dirty="0">
                <a:latin typeface="+mj-ea"/>
                <a:ea typeface="+mj-ea"/>
                <a:sym typeface="+mn-ea"/>
              </a:rPr>
              <a:t>4</a:t>
            </a:r>
            <a:r>
              <a:rPr kumimoji="1" lang="zh-CN" altLang="en-US" dirty="0">
                <a:latin typeface="+mj-ea"/>
                <a:ea typeface="+mj-ea"/>
                <a:sym typeface="+mn-ea"/>
              </a:rPr>
              <a:t>、</a:t>
            </a:r>
            <a:r>
              <a:rPr kumimoji="1" lang="zh-CN" altLang="en-US" dirty="0">
                <a:latin typeface="+mj-ea"/>
                <a:ea typeface="+mj-ea"/>
                <a:sym typeface="+mn-ea"/>
              </a:rPr>
              <a:t>点击</a:t>
            </a:r>
            <a:r>
              <a:rPr kumimoji="1"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对应的第三方招聘网站</a:t>
            </a:r>
            <a:r>
              <a:rPr kumimoji="1"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框</a:t>
            </a:r>
            <a:r>
              <a:rPr kumimoji="1" lang="zh-CN" altLang="en-US" dirty="0">
                <a:latin typeface="+mj-ea"/>
                <a:ea typeface="+mj-ea"/>
                <a:sym typeface="+mn-ea"/>
              </a:rPr>
              <a:t>，系统会自动跳转至网站前台。</a:t>
            </a:r>
            <a:endParaRPr kumimoji="1" lang="zh-CN" altLang="en-US" dirty="0">
              <a:latin typeface="+mj-ea"/>
              <a:ea typeface="+mj-ea"/>
              <a:sym typeface="+mn-ea"/>
            </a:endParaRPr>
          </a:p>
          <a:p>
            <a:endParaRPr kumimoji="1" lang="en-US" altLang="zh-CN" dirty="0">
              <a:latin typeface="+mj-ea"/>
              <a:ea typeface="+mj-ea"/>
              <a:sym typeface="+mn-ea"/>
            </a:endParaRPr>
          </a:p>
          <a:p>
            <a:r>
              <a:rPr kumimoji="1" lang="zh-CN" altLang="en-US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账号密码信息会自动填充，</a:t>
            </a:r>
            <a:r>
              <a:rPr kumimoji="1"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确认登陆</a:t>
            </a:r>
            <a:r>
              <a:rPr kumimoji="1" lang="zh-CN" altLang="en-US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之后，大部分职位信息也会自动填充，</a:t>
            </a:r>
            <a:r>
              <a:rPr kumimoji="1" lang="en-US" altLang="zh-CN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HR</a:t>
            </a:r>
            <a:r>
              <a:rPr kumimoji="1" lang="zh-CN" altLang="en-US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只须完善</a:t>
            </a:r>
            <a:r>
              <a:rPr kumimoji="1" lang="zh-CN" altLang="en-US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少量几个字段，并且</a:t>
            </a:r>
            <a:r>
              <a:rPr kumimoji="1" lang="zh-CN" altLang="en-US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确认发布</a:t>
            </a:r>
            <a:r>
              <a:rPr kumimoji="1" lang="zh-CN" altLang="en-US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即可。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0216" y="2925754"/>
            <a:ext cx="2876550" cy="310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下箭头 18"/>
          <p:cNvSpPr/>
          <p:nvPr/>
        </p:nvSpPr>
        <p:spPr bwMode="auto">
          <a:xfrm rot="16200000">
            <a:off x="6590398" y="4258056"/>
            <a:ext cx="488802" cy="702897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44983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talent eye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插件广告发布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0" y="3244850"/>
            <a:ext cx="5137785" cy="24663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370" y="1376045"/>
            <a:ext cx="104825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ea"/>
                <a:ea typeface="+mj-ea"/>
              </a:rPr>
              <a:t>5</a:t>
            </a:r>
            <a:r>
              <a:rPr lang="zh-CN" altLang="en-US" dirty="0">
                <a:latin typeface="+mj-ea"/>
                <a:ea typeface="+mj-ea"/>
              </a:rPr>
              <a:t>、广告发布到第三方招聘网站后，北森会跳出提示界面（如图中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），说明广告已发布</a:t>
            </a:r>
            <a:r>
              <a:rPr lang="zh-CN" altLang="en-US" dirty="0">
                <a:latin typeface="+mj-ea"/>
                <a:ea typeface="+mj-ea"/>
                <a:sym typeface="+mn-ea"/>
              </a:rPr>
              <a:t>成功</a:t>
            </a:r>
            <a:r>
              <a:rPr lang="zh-CN" altLang="en-US" dirty="0">
                <a:latin typeface="+mj-ea"/>
                <a:ea typeface="+mj-ea"/>
              </a:rPr>
              <a:t>。</a:t>
            </a:r>
            <a:endParaRPr lang="zh-CN" altLang="en-US" dirty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6</a:t>
            </a:r>
            <a:r>
              <a:rPr lang="zh-CN" altLang="en-US" dirty="0">
                <a:latin typeface="+mj-ea"/>
                <a:ea typeface="+mj-ea"/>
              </a:rPr>
              <a:t>、若不想发布到招聘门户、内部推荐、猎头推荐等一键发布渠道，则直接点击右下角</a:t>
            </a:r>
            <a:r>
              <a:rPr lang="en-US" altLang="zh-CN" dirty="0">
                <a:latin typeface="+mj-ea"/>
                <a:ea typeface="+mj-ea"/>
              </a:rPr>
              <a:t>“</a:t>
            </a:r>
            <a:r>
              <a:rPr lang="zh-CN" altLang="en-US" dirty="0">
                <a:latin typeface="+mj-ea"/>
                <a:ea typeface="+mj-ea"/>
              </a:rPr>
              <a:t>取消</a:t>
            </a:r>
            <a:r>
              <a:rPr lang="en-US" altLang="zh-CN" dirty="0">
                <a:latin typeface="+mj-ea"/>
                <a:ea typeface="+mj-ea"/>
              </a:rPr>
              <a:t>”</a:t>
            </a:r>
            <a:r>
              <a:rPr lang="zh-CN" altLang="en-US" dirty="0">
                <a:latin typeface="+mj-ea"/>
                <a:ea typeface="+mj-ea"/>
              </a:rPr>
              <a:t>（如图中</a:t>
            </a:r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）。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（只要完成步骤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，职位就已经发布到第三方招聘网站了，</a:t>
            </a:r>
            <a:r>
              <a:rPr lang="zh-CN" dirty="0">
                <a:solidFill>
                  <a:srgbClr val="FF0000"/>
                </a:solidFill>
                <a:latin typeface="+mj-ea"/>
                <a:ea typeface="+mj-ea"/>
              </a:rPr>
              <a:t>此处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dirty="0">
                <a:solidFill>
                  <a:srgbClr val="FF0000"/>
                </a:solidFill>
                <a:latin typeface="+mj-ea"/>
                <a:ea typeface="+mj-ea"/>
              </a:rPr>
              <a:t>取消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dirty="0">
                <a:solidFill>
                  <a:srgbClr val="FF0000"/>
                </a:solidFill>
                <a:latin typeface="+mj-ea"/>
                <a:ea typeface="+mj-ea"/>
              </a:rPr>
              <a:t>不影响到招聘网站的职位发布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）</a:t>
            </a:r>
            <a:endParaRPr lang="zh-CN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44983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talent eye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插件广告发布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695" y="2728595"/>
            <a:ext cx="8261985" cy="39198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83432" y="1115339"/>
            <a:ext cx="1000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当广告发布完成之后，系统会记录发布的广告信息，并且发布失败的广告会提示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32624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发布完成广告查看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80" y="1916832"/>
            <a:ext cx="6982892" cy="451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2060848"/>
            <a:ext cx="6391275" cy="3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83432" y="1300005"/>
            <a:ext cx="100025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职位广告完成发布，后续需要进行刷新的话，“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智联招聘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前程无忧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”渠道可以在职位界面右上角，使用“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talent eye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”插件完成刷新；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猎聘、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BOSS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、拉勾需要进入对应的渠道网站进行广告刷新；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其余渠道可在系统对应职位下一键刷新。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职位广告刷新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56" y="2299226"/>
            <a:ext cx="5229225" cy="4105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911" y="2397273"/>
            <a:ext cx="5415750" cy="35764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3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获取简历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74700" y="1405890"/>
            <a:ext cx="1081405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一、邮箱收取：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应聘者在招聘网站上主投的简历，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会自动进入收取邮箱，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随后被系统自动抓取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Talent Eye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插件导入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从网站搜索的简历，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talent eye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插件将简历从招聘网站快速导入进系统的职位上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、插件导入的前提是已在系统创建了职位；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、插件导入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只能传到职位上，无法直接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传到人才库。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新建应聘者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将本地的简历，通过点击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应聘者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新建应聘者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的方式可直接上传至指定职位或人才库里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4" name="文本框 46"/>
          <p:cNvSpPr txBox="1"/>
          <p:nvPr/>
        </p:nvSpPr>
        <p:spPr>
          <a:xfrm>
            <a:off x="651604" y="326942"/>
            <a:ext cx="3611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获取简历的三种方式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40435" y="1116965"/>
            <a:ext cx="1081405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应聘者在招聘网站主动投递的简历，会自动进入收取邮箱，并会被北森自动抓取到系统里的对应职位上。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无需频繁登陆网站后台或者邮箱，只要查看系统即可。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注意前提条件两点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：①招聘网站与北森上发布的职位名称完全一致；②北森上的简历收取邮箱必选，且与发布广告到招聘网站上的预留邮箱一致。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1" name="Picture 3" descr="C:\Users\sup_beisen01\Desktop\临时\191010\new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04" y="2587580"/>
            <a:ext cx="10152063" cy="4210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4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一、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邮箱收取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099464"/>
            <a:ext cx="11417300" cy="1270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 bwMode="auto">
          <a:xfrm>
            <a:off x="8775030" y="2587471"/>
            <a:ext cx="1872208" cy="409481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无需人工干预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2970" y="1125220"/>
            <a:ext cx="1031303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在网站上搜索的简历，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可通过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talent eye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插件从招聘网站快速导入进系统的职位上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特点：没有联系方式的简历也可直接导入到系统中，手动进行相似查询。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若电话沟通后确认合适，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务必先在系统中补上联系方式后再安排用人部门筛选简历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，否则简历无法被自动锁定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26" name="文本框 46"/>
          <p:cNvSpPr txBox="1"/>
          <p:nvPr/>
        </p:nvSpPr>
        <p:spPr>
          <a:xfrm>
            <a:off x="651604" y="326942"/>
            <a:ext cx="4373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二、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Talent Eye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插件导入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70" y="2228850"/>
            <a:ext cx="9547860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91870" y="1157843"/>
            <a:ext cx="1020826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如果在电脑中或者线下有存储部分应聘者简历，可进入某个职位，点击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“应聘者”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“新建应聘者”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新建一位应聘者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“新建多位应聘者”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可以批量导入简历至该职位上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。（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压缩包也可以导入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5135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三、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“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新建应聘者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”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简历导入</a:t>
            </a:r>
            <a:endParaRPr kumimoji="1" lang="zh-CN" altLang="en-US" sz="3000" dirty="0">
              <a:solidFill>
                <a:srgbClr val="FF0000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11" y="1857758"/>
            <a:ext cx="6815113" cy="4291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374" y="2635836"/>
            <a:ext cx="5189318" cy="3888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91870" y="1229851"/>
            <a:ext cx="102082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所有进入系统的简历都会被解析，并且整理到对应职位或者未归档中，点击对应职位，查看所有应聘者就可以查看应聘者简历；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也可以通过“应聘者”菜单，查看所有的应聘者，或者按照不同查看方式进行简历查看。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4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系统简历查看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57" y="2420888"/>
            <a:ext cx="5172075" cy="3762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92896"/>
            <a:ext cx="5886450" cy="3448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 bwMode="auto">
          <a:xfrm>
            <a:off x="6369518" y="2564904"/>
            <a:ext cx="1224136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4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筛选简历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6" y="1826215"/>
            <a:ext cx="10967085" cy="4843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991870" y="1158519"/>
            <a:ext cx="10208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可以在系统中快速筛选所有的简历，也可以批量发送给用人部门进行审批处理。操作步骤如下：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  查看具体某个职位下的应聘者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1082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查看应聘者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925938" y="1887804"/>
            <a:ext cx="722306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59" y="2233558"/>
            <a:ext cx="10653079" cy="4507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23"/>
          <p:cNvSpPr txBox="1"/>
          <p:nvPr/>
        </p:nvSpPr>
        <p:spPr>
          <a:xfrm>
            <a:off x="3863752" y="2420888"/>
            <a:ext cx="51537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通过设定“筛选条件”，过滤出符合要求的简历</a:t>
            </a:r>
            <a:endParaRPr lang="zh-CN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TextBox 22"/>
          <p:cNvSpPr txBox="1"/>
          <p:nvPr/>
        </p:nvSpPr>
        <p:spPr>
          <a:xfrm>
            <a:off x="9292750" y="2884974"/>
            <a:ext cx="2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04829" y="1142190"/>
            <a:ext cx="102082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：直接查看解析的基本信息，或者通过顶部筛选区域进行筛选。合适的就勾选并且点击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“下一阶段”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，不合适就勾选并且点击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“淘汰”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如果筛选字段需要使用更多，请点击右上角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“小齿轮”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图标（见下图）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4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简历初筛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 bwMode="auto">
          <a:xfrm>
            <a:off x="983432" y="2263228"/>
            <a:ext cx="1224136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2938124"/>
            <a:ext cx="7776864" cy="3659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22"/>
          <p:cNvSpPr txBox="1"/>
          <p:nvPr/>
        </p:nvSpPr>
        <p:spPr>
          <a:xfrm>
            <a:off x="9292750" y="2884974"/>
            <a:ext cx="2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825967"/>
            <a:ext cx="6801663" cy="3259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2983359" y="4057012"/>
            <a:ext cx="3394710" cy="36830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全选，点击查看简历批量查看</a:t>
            </a:r>
            <a:endParaRPr lang="zh-CN" altLang="en-US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6186" y="1126485"/>
            <a:ext cx="102843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：勾选部分需要详细查看的应聘者，点击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“查看简历”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就可以查看简历详情，并且进行筛选。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操作按钮注意在界面右侧。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3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简历初筛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75997" y="1303716"/>
            <a:ext cx="10271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进入简历详情页，可看到简历的详情，以及他们的原始简历和标准简历，右侧工具栏可进行简历筛选处理；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1344" y="1808424"/>
            <a:ext cx="478388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、如果简历不合适，点击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“淘汰“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、如果简历合适，需要到下一环节，点击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“下一阶段“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、如果操作失误，需要调整阶段，点击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“转移“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、如果觉得应聘者适合其他岗位，点击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“推荐到职位“（本职位下保留）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”转移到职位“（本职位下不保留）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、如果要发给用人部门筛选，可以使用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“筛选简历“（见下一页）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、应聘者比较优秀，希望储备下来，可以使用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储备到人才库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544" y="1778000"/>
            <a:ext cx="6804921" cy="2515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545" y="4437112"/>
            <a:ext cx="6856095" cy="2249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矩形 1"/>
          <p:cNvSpPr/>
          <p:nvPr/>
        </p:nvSpPr>
        <p:spPr bwMode="auto">
          <a:xfrm>
            <a:off x="5591944" y="3243567"/>
            <a:ext cx="714117" cy="2574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简历处理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2"/>
          <p:cNvSpPr txBox="1"/>
          <p:nvPr/>
        </p:nvSpPr>
        <p:spPr>
          <a:xfrm>
            <a:off x="9292750" y="2884974"/>
            <a:ext cx="2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6186" y="1126485"/>
            <a:ext cx="102843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内部推荐进系统的简历，在简历右侧会带有一个绿色的“内”字，该简历在职位下与其他简历一样进行操作，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无需特殊化处理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，当符合奖励条件的时候系统会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自动记录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内部推荐的奖励给推荐人。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3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内推简历处理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454" y="2132856"/>
            <a:ext cx="8639175" cy="4257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911424" y="1268760"/>
            <a:ext cx="102838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简历需要用人部门协助进行筛选，并且反馈结果的，可以使用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“筛选简历“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功能，把简历推送给用人部门负责人的邮箱及移动端，用人部门可以线上快捷反馈结果给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34" y="2204864"/>
            <a:ext cx="6095735" cy="3425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693" y="2877928"/>
            <a:ext cx="6245894" cy="3863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用人部门筛选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46" y="1216825"/>
            <a:ext cx="6764516" cy="42952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904" y="2730420"/>
            <a:ext cx="8278782" cy="40109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7376830" y="1560873"/>
            <a:ext cx="4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面试官随时可以在邮件中进行反馈，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反馈界面布局清晰，无需过多指导。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详细操作可参考</a:t>
            </a:r>
            <a:r>
              <a:rPr lang="en-US" altLang="zh-CN" dirty="0">
                <a:latin typeface="+mj-ea"/>
                <a:ea typeface="+mj-ea"/>
              </a:rPr>
              <a:t>【</a:t>
            </a:r>
            <a:r>
              <a:rPr lang="zh-CN" altLang="en-US" dirty="0">
                <a:latin typeface="+mj-ea"/>
                <a:ea typeface="+mj-ea"/>
              </a:rPr>
              <a:t>面试官操作手册</a:t>
            </a:r>
            <a:r>
              <a:rPr lang="en-US" altLang="zh-CN" dirty="0">
                <a:latin typeface="+mj-ea"/>
                <a:ea typeface="+mj-ea"/>
              </a:rPr>
              <a:t>】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9984432" y="3364428"/>
            <a:ext cx="1152128" cy="51812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39084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用人部门筛选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-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电脑端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613973" y="1264028"/>
            <a:ext cx="2808312" cy="4699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9624392" y="1849529"/>
            <a:ext cx="2398351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用人部门微信关注</a:t>
            </a:r>
            <a:r>
              <a:rPr lang="en-US" altLang="zh-CN" dirty="0">
                <a:latin typeface="+mj-ea"/>
                <a:ea typeface="+mj-ea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闪电招聘</a:t>
            </a:r>
            <a:r>
              <a:rPr lang="en-US" altLang="zh-CN" dirty="0">
                <a:latin typeface="+mj-ea"/>
                <a:ea typeface="+mj-ea"/>
              </a:rPr>
              <a:t>”</a:t>
            </a:r>
            <a:r>
              <a:rPr lang="zh-CN" altLang="en-US" dirty="0">
                <a:latin typeface="+mj-ea"/>
                <a:ea typeface="+mj-ea"/>
              </a:rPr>
              <a:t>，收到的移动端的消息提醒，可以随时在移动端收到任务通知并且反馈筛选结果。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具体操作请参考</a:t>
            </a:r>
            <a:r>
              <a:rPr lang="en-US" altLang="zh-CN" dirty="0">
                <a:latin typeface="+mj-ea"/>
                <a:ea typeface="+mj-ea"/>
              </a:rPr>
              <a:t>【</a:t>
            </a:r>
            <a:r>
              <a:rPr lang="zh-CN" altLang="en-US" dirty="0">
                <a:latin typeface="+mj-ea"/>
                <a:ea typeface="+mj-ea"/>
              </a:rPr>
              <a:t>面试官操作手册</a:t>
            </a:r>
            <a:r>
              <a:rPr lang="en-US" altLang="zh-CN" dirty="0">
                <a:latin typeface="+mj-ea"/>
                <a:ea typeface="+mj-ea"/>
              </a:rPr>
              <a:t>】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350720" y="5704689"/>
            <a:ext cx="1152128" cy="25906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39084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用人部门筛选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-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移动端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9075" y="1283228"/>
            <a:ext cx="2663282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03030" y="1283229"/>
            <a:ext cx="288032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911424" y="1268760"/>
            <a:ext cx="102838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当用人部门完成简历筛选的工作，并且通过系统反馈，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会收到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右上角消息提醒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，可以直接查看进度；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也可以点击简历进入简历详情页，查看“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筛选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”页签下的详细筛选结果。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筛选结果查看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534" y="2522300"/>
            <a:ext cx="5162550" cy="3619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04" y="2099757"/>
            <a:ext cx="6696744" cy="4469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5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安排面试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24" y="2168227"/>
            <a:ext cx="10652760" cy="442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911424" y="1198817"/>
            <a:ext cx="10283899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应聘者通过筛选，进入面试环节，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可以在系统中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批量、快速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的安排面试给应聘者，并且直接可以通过系统通知面试双方面试安排。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4428118" y="5013176"/>
            <a:ext cx="1809685" cy="432048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可支持批量安排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安排面试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455" y="3702685"/>
            <a:ext cx="7395210" cy="29470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774700" y="1026160"/>
            <a:ext cx="1123569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填写面试基本信息，并且勾选给候选人和面试官发通知的选项。如果面试官已经绑定了企业微信内嵌的闪电招聘（小觅同学）了，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企业微信上会自动发送消息提醒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。为了避免消息过多，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建议有需要的情况下再发送邮件通知给面试官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1.安排时正确选择面试环节：初试/复试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终试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安排时务必正确选择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“面试评价表”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：“HR初筛评价表”/“用人部门面试评价表”/...（系统无法根据所选的面试环节匹配对应面试评价表）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3.面试完成后，请对应面试官在系统中完成“面试评价”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4350941" y="5495297"/>
            <a:ext cx="2857520" cy="581494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0000"/>
                </a:solidFill>
              </a:rPr>
              <a:t>面试评价表需要根据实际面试的情况去进行勾选</a:t>
            </a:r>
            <a:r>
              <a:rPr lang="zh-CN" altLang="en-US" sz="1400" dirty="0">
                <a:solidFill>
                  <a:srgbClr val="FF0000"/>
                </a:solidFill>
              </a:rPr>
              <a:t>。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3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安排面试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657416" y="1341994"/>
            <a:ext cx="4752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面试官收到面试安排，可以线上答复接受或拒绝。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面试官可以随时打开简历，并且点击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写反馈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按钮，线上进行面试评价反馈。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360" y="2910313"/>
            <a:ext cx="5472608" cy="3254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73" y="2938582"/>
            <a:ext cx="5803267" cy="3158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矩形 8"/>
          <p:cNvSpPr/>
          <p:nvPr/>
        </p:nvSpPr>
        <p:spPr>
          <a:xfrm>
            <a:off x="695400" y="1526661"/>
            <a:ext cx="4752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应聘者收到面试安排，线上答复参加或不参加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不参加可以线上反馈拒绝面试原因。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3" name="文本框 46"/>
          <p:cNvSpPr txBox="1"/>
          <p:nvPr/>
        </p:nvSpPr>
        <p:spPr>
          <a:xfrm>
            <a:off x="651604" y="326942"/>
            <a:ext cx="39084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安排面试任务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-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电脑端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3" name="文本框 46"/>
          <p:cNvSpPr txBox="1"/>
          <p:nvPr/>
        </p:nvSpPr>
        <p:spPr>
          <a:xfrm>
            <a:off x="651604" y="326942"/>
            <a:ext cx="39084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安排面试任务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-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移动端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2224" y="1268760"/>
            <a:ext cx="2663282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文本框 6"/>
          <p:cNvSpPr txBox="1"/>
          <p:nvPr/>
        </p:nvSpPr>
        <p:spPr>
          <a:xfrm>
            <a:off x="335360" y="6165304"/>
            <a:ext cx="32512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招聘管理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面试反馈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2224" y="2780928"/>
            <a:ext cx="605325" cy="31538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文本框 8"/>
          <p:cNvSpPr txBox="1"/>
          <p:nvPr/>
        </p:nvSpPr>
        <p:spPr>
          <a:xfrm>
            <a:off x="7223448" y="6197242"/>
            <a:ext cx="28448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面试详情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2"/>
          <p:cNvSpPr txBox="1"/>
          <p:nvPr/>
        </p:nvSpPr>
        <p:spPr>
          <a:xfrm>
            <a:off x="3623048" y="6021288"/>
            <a:ext cx="3357033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面试反馈列表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未完成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】/【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83088" y="1268760"/>
            <a:ext cx="258202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67464" y="1268760"/>
            <a:ext cx="266429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8"/>
          <p:cNvSpPr txBox="1"/>
          <p:nvPr/>
        </p:nvSpPr>
        <p:spPr>
          <a:xfrm>
            <a:off x="10127399" y="2780928"/>
            <a:ext cx="19452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具体操作可查看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面试官操作手册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00" y="2506125"/>
            <a:ext cx="11280576" cy="3659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695400" y="1412776"/>
            <a:ext cx="10283899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面试官在线上完成面试评价后，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可以收到系统消息提醒，并且进行阶段的转移。面试结果为通过，点击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下一阶段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，进入下一阶段，面试结果为淘汰，点击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淘汰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本轮淘汰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8760296" y="2006059"/>
            <a:ext cx="2857520" cy="1000132"/>
          </a:xfrm>
          <a:prstGeom prst="roundRect">
            <a:avLst/>
          </a:prstGeom>
          <a:noFill/>
          <a:ln w="28575" cap="flat" cmpd="sng" algn="ctr">
            <a:solidFill>
              <a:srgbClr val="83BCC1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最近面试：可查看最近一场面试的安排情况；</a:t>
            </a:r>
            <a:endParaRPr lang="en-US" altLang="zh-CN" sz="14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面试结果：所有面试官的评价结果快速展示。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0416480" y="3107772"/>
            <a:ext cx="720080" cy="1800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结果转移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72499" y="2046177"/>
            <a:ext cx="43561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在该页面下，可以管理面试安排：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如果面试临时更改，可以批量通知双方，点击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面试主题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”——“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更改面试安排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面试有调整，需要取消本次面试，点击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面试主题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”——“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取消面试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需要把明天面试安排发给前台，安排接待与打印简历，使用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转发面试安排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如果需要催促应聘者答复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面试官反馈，使用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催促答复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催促反馈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71" y="3270313"/>
            <a:ext cx="7381155" cy="2894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911424" y="1547251"/>
            <a:ext cx="54666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需要对面试进行管理的话，可以点击顶部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菜单，进入面试管理页面。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简历处理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81" y="3501008"/>
            <a:ext cx="6181936" cy="3022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695400" y="1268760"/>
            <a:ext cx="102838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当面试官完成面试的工作，并且通过系统反馈，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会收到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右上角消息提醒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，可以直接查看进度；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也可以在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首页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查看所有面试反馈的结果；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或者打开简历详情页，通过“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”页签查看面试结果。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面试结果查看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849158"/>
            <a:ext cx="5162550" cy="3619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2" y="2636912"/>
            <a:ext cx="5172075" cy="3409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6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社招测评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67715" y="1053465"/>
            <a:ext cx="1084834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【重要，必做】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将所有职位关联测评活动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、对于已经在系统中创建的【社招】职位，需要补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关联：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职位名称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测评活动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关联已有测评活动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“追觅科技—普通社招”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（在刚刚的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，完成职位与测评活动的绑定。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注意：每一个已发布的职位均需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依次完成以上动作（这里不支持批量操作噢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~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关联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测评活动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3140075"/>
            <a:ext cx="5437505" cy="338772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955" y="3571875"/>
            <a:ext cx="5824220" cy="32340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关联测评活动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25" y="1340485"/>
            <a:ext cx="6000750" cy="37166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290" y="2924810"/>
            <a:ext cx="5662930" cy="361378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4055" y="1053465"/>
            <a:ext cx="112947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2、对于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新创建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的职位：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新建职位——高级设置——测评活动——关联已有测评活动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——选择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“追觅科技—普通社招”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——“确定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注意：后面每一个新创建的【社招】职位均需完成以上动作，以绑定测评活动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关联测评活动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90" y="2407920"/>
            <a:ext cx="10411460" cy="42424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3834724" y="3717032"/>
            <a:ext cx="86409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427012" y="3717032"/>
            <a:ext cx="86409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发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送测评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邀请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560" y="2060575"/>
            <a:ext cx="9224010" cy="45440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767715" y="1124585"/>
            <a:ext cx="10924540" cy="829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在社招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岗候选人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完成终面后、开始谈薪前】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将候选人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测评筛选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进行中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点击右侧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邀请测评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按钮，向候选人发送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测评邀请邮件通知。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67715" y="1052830"/>
            <a:ext cx="109245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测评活动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：选择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追觅科技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普通社招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通知模板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：选择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社招测评通知模板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3834724" y="3717032"/>
            <a:ext cx="86409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427012" y="3717032"/>
            <a:ext cx="86409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发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送测评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邀请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65" y="2323465"/>
            <a:ext cx="10160635" cy="44316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67715" y="1340485"/>
            <a:ext cx="109245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、候选人收到测评邮件后，根据提示在规定时间内完成测评。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可从候选人简历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，查看及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下载测评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427012" y="3717032"/>
            <a:ext cx="86409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3611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完成测评及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报告查询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" y="2635250"/>
            <a:ext cx="11203305" cy="40322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67715" y="1340485"/>
            <a:ext cx="109245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、应聘者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按流程查看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测评筛选，可通过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测评情况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最近测评作答进度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查看测评进度。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427012" y="3717032"/>
            <a:ext cx="86409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1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测评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进度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查询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25" y="1864360"/>
            <a:ext cx="10367010" cy="47180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7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18318" y="3818467"/>
            <a:ext cx="6955367" cy="666751"/>
          </a:xfrm>
        </p:spPr>
        <p:txBody>
          <a:bodyPr/>
          <a:lstStyle/>
          <a:p>
            <a:pPr>
              <a:defRPr/>
            </a:pPr>
            <a:r>
              <a:rPr lang="en-US" altLang="zh-CN" sz="3200" b="1" dirty="0"/>
              <a:t>OFFER</a:t>
            </a:r>
            <a:r>
              <a:rPr lang="zh-CN" altLang="en-US" sz="3200" b="1" dirty="0"/>
              <a:t>管理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02260" y="1196975"/>
            <a:ext cx="1183386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Offer管理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完整流程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（按顺序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依次）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kumimoji="1" lang="en-US" altLang="zh-CN" sz="2000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发起offer审批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kumimoji="1" lang="en-US" altLang="zh-CN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offer编辑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kumimoji="1" lang="en-US" altLang="zh-CN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发送offer——</a:t>
            </a:r>
            <a:r>
              <a:rPr kumimoji="1" lang="zh-CN" altLang="en-US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（根据</a:t>
            </a:r>
            <a:r>
              <a:rPr kumimoji="1" lang="zh-CN" altLang="en-US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实际进度）转移</a:t>
            </a:r>
            <a:r>
              <a:rPr kumimoji="1" lang="en-US" altLang="zh-CN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</a:t>
            </a:r>
            <a:r>
              <a:rPr kumimoji="1" lang="zh-CN" altLang="en-US" sz="2000" b="1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</a:t>
            </a:r>
            <a:endParaRPr kumimoji="1" lang="en-US" altLang="zh-CN" sz="2000" b="1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注：先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发起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审批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，审批通过后，再进行后续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”offer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编辑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发送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offer”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等。</a:t>
            </a:r>
            <a:endParaRPr kumimoji="1" lang="en-US" altLang="zh-CN" sz="2000" b="1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线上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审批说明：</a:t>
            </a:r>
            <a:endParaRPr kumimoji="1" lang="zh-CN" altLang="en-US" sz="2000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流程：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招聘HR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发起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——招聘组长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审批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——招聘部负责人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审批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人力资源总监审批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——人力资源负责人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审批</a:t>
            </a: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结束</a:t>
            </a:r>
            <a:endParaRPr kumimoji="1" lang="zh-CN" altLang="en-US" sz="2000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当某一环的审批人与历史审批人一致时，系统会自动同意，进入下一轮</a:t>
            </a:r>
            <a:r>
              <a:rPr kumimoji="1" lang="zh-CN" altLang="en-US" sz="2000" dirty="0">
                <a:solidFill>
                  <a:srgbClr val="00B0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审批。</a:t>
            </a:r>
            <a:endParaRPr kumimoji="1" lang="zh-CN" altLang="en-US" sz="2000" dirty="0">
              <a:solidFill>
                <a:srgbClr val="00B0B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3802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管理的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完整流程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911424" y="1197258"/>
            <a:ext cx="10283899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【已经完成口头谈薪】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的应聘者，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至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环节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接受口头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，会自动同步到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管理页面的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待发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（注：无需手动点击“新建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”按钮）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2351584" y="4509120"/>
            <a:ext cx="1080120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0" name="文本框 46"/>
          <p:cNvSpPr txBox="1"/>
          <p:nvPr/>
        </p:nvSpPr>
        <p:spPr>
          <a:xfrm>
            <a:off x="651604" y="326942"/>
            <a:ext cx="1897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创建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 bwMode="auto">
          <a:xfrm>
            <a:off x="767408" y="2247844"/>
            <a:ext cx="660591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895" y="2204720"/>
            <a:ext cx="7569835" cy="42678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487680" y="1115060"/>
            <a:ext cx="1130363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zh-CN" sz="1400" b="1" dirty="0">
                <a:latin typeface="+mj-ea"/>
                <a:ea typeface="+mj-ea"/>
              </a:rPr>
              <a:t>1.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从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offer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模块进入</a:t>
            </a:r>
            <a:r>
              <a:rPr lang="zh-CN" altLang="en-US" sz="1400" b="1" dirty="0">
                <a:latin typeface="+mj-ea"/>
                <a:ea typeface="+mj-ea"/>
              </a:rPr>
              <a:t>，点击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发起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offer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审批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，填写相关信息后点击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“保存”</a:t>
            </a:r>
            <a:r>
              <a:rPr lang="en-US" altLang="zh-CN" sz="1400" b="1" dirty="0">
                <a:latin typeface="+mj-ea"/>
                <a:ea typeface="+mj-ea"/>
              </a:rPr>
              <a:t>——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提交审批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【重要】</a:t>
            </a:r>
            <a:r>
              <a:rPr lang="zh-CN" altLang="en-US" sz="1400" b="1" dirty="0">
                <a:latin typeface="+mj-ea"/>
                <a:ea typeface="+mj-ea"/>
              </a:rPr>
              <a:t>【发起Offer审批】页面的信息填写</a:t>
            </a:r>
            <a:r>
              <a:rPr lang="zh-CN" altLang="en-US" sz="1400" b="1" dirty="0">
                <a:latin typeface="+mj-ea"/>
                <a:ea typeface="+mj-ea"/>
              </a:rPr>
              <a:t>说明：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①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录用业务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：指候选人实际被哪个业务所录用，就选</a:t>
            </a:r>
            <a:r>
              <a:rPr lang="zh-CN" altLang="en-US" sz="1400" b="1" dirty="0">
                <a:latin typeface="+mj-ea"/>
                <a:ea typeface="+mj-ea"/>
              </a:rPr>
              <a:t>哪个。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②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产品线</a:t>
            </a:r>
            <a:r>
              <a:rPr lang="en-US" altLang="zh-CN" sz="1400" b="1" dirty="0">
                <a:latin typeface="+mj-ea"/>
                <a:ea typeface="+mj-ea"/>
              </a:rPr>
              <a:t>/</a:t>
            </a:r>
            <a:r>
              <a:rPr lang="zh-CN" altLang="en-US" sz="1400" b="1" dirty="0">
                <a:latin typeface="+mj-ea"/>
                <a:ea typeface="+mj-ea"/>
              </a:rPr>
              <a:t>品牌线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是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无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的，包括创新研究院、设计部、产品评估部、职能类、工程品质供应链、电机厂、智能制造工厂等</a:t>
            </a:r>
            <a:r>
              <a:rPr lang="zh-CN" altLang="en-US" sz="1400" b="1" dirty="0">
                <a:latin typeface="+mj-ea"/>
                <a:ea typeface="+mj-ea"/>
              </a:rPr>
              <a:t>候选人无法划分到具体某个产品线</a:t>
            </a:r>
            <a:r>
              <a:rPr lang="en-US" altLang="zh-CN" sz="1400" b="1" dirty="0">
                <a:latin typeface="+mj-ea"/>
                <a:ea typeface="+mj-ea"/>
              </a:rPr>
              <a:t>/</a:t>
            </a:r>
            <a:r>
              <a:rPr lang="zh-CN" altLang="en-US" sz="1400" b="1" dirty="0">
                <a:latin typeface="+mj-ea"/>
                <a:ea typeface="+mj-ea"/>
              </a:rPr>
              <a:t>品牌线下面</a:t>
            </a:r>
            <a:r>
              <a:rPr lang="zh-CN" altLang="en-US" sz="1400" b="1" dirty="0">
                <a:latin typeface="+mj-ea"/>
                <a:ea typeface="+mj-ea"/>
              </a:rPr>
              <a:t>的。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③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录用部门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：请具体到各部门，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不要选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追觅科技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或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“XX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平台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④</a:t>
            </a:r>
            <a:r>
              <a:rPr lang="en-US" altLang="zh-CN" sz="1400" b="1" dirty="0">
                <a:latin typeface="+mj-ea"/>
                <a:ea typeface="+mj-ea"/>
                <a:sym typeface="+mn-ea"/>
              </a:rPr>
              <a:t>”</a:t>
            </a:r>
            <a:r>
              <a:rPr lang="zh-CN" altLang="en-US" sz="1400" b="1" dirty="0">
                <a:latin typeface="+mj-ea"/>
                <a:ea typeface="+mj-ea"/>
                <a:sym typeface="+mn-ea"/>
              </a:rPr>
              <a:t>面试评价</a:t>
            </a:r>
            <a:r>
              <a:rPr lang="en-US" altLang="zh-CN" sz="1400" b="1" dirty="0">
                <a:latin typeface="+mj-ea"/>
                <a:ea typeface="+mj-ea"/>
                <a:sym typeface="+mn-ea"/>
              </a:rPr>
              <a:t>“</a:t>
            </a:r>
            <a:r>
              <a:rPr lang="zh-CN" altLang="en-US" sz="1400" b="1" dirty="0">
                <a:latin typeface="+mj-ea"/>
                <a:ea typeface="+mj-ea"/>
                <a:sym typeface="+mn-ea"/>
              </a:rPr>
              <a:t>：包括所有面试官的面试评价，格式参考之前群里</a:t>
            </a:r>
            <a:r>
              <a:rPr lang="en-US" altLang="zh-CN" sz="1400" b="1" dirty="0">
                <a:latin typeface="+mj-ea"/>
                <a:ea typeface="+mj-ea"/>
                <a:sym typeface="+mn-ea"/>
              </a:rPr>
              <a:t>offer</a:t>
            </a:r>
            <a:r>
              <a:rPr lang="zh-CN" altLang="en-US" sz="1400" b="1" dirty="0">
                <a:latin typeface="+mj-ea"/>
                <a:ea typeface="+mj-ea"/>
                <a:sym typeface="+mn-ea"/>
              </a:rPr>
              <a:t>审批的内容格式。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⑤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人才类别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：请严格按照明白度、潜力度、文化匹配度的评分进行划分和选择。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⑥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商推得分（需备注所属水平）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：填写格式为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得分（水平）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，如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5.5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（中高），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3.8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（低）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....</a:t>
            </a:r>
            <a:endParaRPr lang="zh-CN" altLang="en-US" sz="1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— 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所属水平划分标准为：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分以下为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低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，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（含）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-5.5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（不含）为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中低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，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5.5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（含）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-7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（不含）为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中高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，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7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分及以上为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高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。</a:t>
            </a:r>
            <a:endParaRPr lang="zh-CN" altLang="en-US" sz="1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 — 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商推得分低于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5.5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仍申请录用的，【一定】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填写原因。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⑦</a:t>
            </a:r>
            <a:r>
              <a:rPr lang="en-US" altLang="zh-CN" sz="1400" b="1" dirty="0">
                <a:latin typeface="+mj-ea"/>
                <a:ea typeface="+mj-ea"/>
              </a:rPr>
              <a:t>”Base</a:t>
            </a:r>
            <a:r>
              <a:rPr lang="zh-CN" altLang="en-US" sz="1400" b="1" dirty="0">
                <a:latin typeface="+mj-ea"/>
                <a:ea typeface="+mj-ea"/>
              </a:rPr>
              <a:t>地点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：统一选到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市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级（如</a:t>
            </a:r>
            <a:r>
              <a:rPr lang="en-US" altLang="zh-CN" sz="1400" b="1" dirty="0">
                <a:latin typeface="+mj-ea"/>
                <a:ea typeface="+mj-ea"/>
              </a:rPr>
              <a:t> </a:t>
            </a:r>
            <a:r>
              <a:rPr lang="zh-CN" altLang="en-US" sz="1400" b="1" dirty="0">
                <a:latin typeface="+mj-ea"/>
                <a:ea typeface="+mj-ea"/>
              </a:rPr>
              <a:t>苏州市，是正确的），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不要选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省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或者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区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级（如江苏省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或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吴中区，都是不对的）</a:t>
            </a:r>
            <a:r>
              <a:rPr lang="zh-CN" altLang="en-US" sz="1400" b="1" dirty="0">
                <a:latin typeface="+mj-ea"/>
                <a:ea typeface="+mj-ea"/>
              </a:rPr>
              <a:t>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⑧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涨薪情况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：指我们的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offer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薪资和人选之前的薪资对比，涨幅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XX%    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或持平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    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或降薪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XX%</a:t>
            </a:r>
            <a:r>
              <a:rPr lang="zh-CN" altLang="en-US" sz="1400" b="1" dirty="0">
                <a:latin typeface="+mj-ea"/>
                <a:ea typeface="+mj-ea"/>
              </a:rPr>
              <a:t>，</a:t>
            </a:r>
            <a:r>
              <a:rPr lang="zh-CN" altLang="en-US" sz="1400" b="1" dirty="0">
                <a:latin typeface="+mj-ea"/>
                <a:ea typeface="+mj-ea"/>
              </a:rPr>
              <a:t>而不是指入职后我们的调薪</a:t>
            </a:r>
            <a:r>
              <a:rPr lang="zh-CN" altLang="en-US" sz="1400" b="1" dirty="0">
                <a:latin typeface="+mj-ea"/>
                <a:ea typeface="+mj-ea"/>
              </a:rPr>
              <a:t>政策。</a:t>
            </a:r>
            <a:endParaRPr lang="zh-CN" altLang="en-US" sz="1400" b="1" dirty="0"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⑨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测评报告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：上传所有测评报告，其中，商推报告上传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《商业综合推理能力评估报告》（统一命名）</a:t>
            </a:r>
            <a:r>
              <a:rPr lang="zh-CN" altLang="en-US" sz="1400" b="1" dirty="0">
                <a:latin typeface="+mj-ea"/>
                <a:ea typeface="+mj-ea"/>
              </a:rPr>
              <a:t>；</a:t>
            </a:r>
            <a:r>
              <a:rPr lang="en-US" altLang="zh-CN" sz="1400" b="1" dirty="0">
                <a:latin typeface="+mj-ea"/>
                <a:ea typeface="+mj-ea"/>
              </a:rPr>
              <a:t>SHL</a:t>
            </a:r>
            <a:r>
              <a:rPr lang="zh-CN" altLang="en-US" sz="1400" b="1" dirty="0">
                <a:latin typeface="+mj-ea"/>
                <a:ea typeface="+mj-ea"/>
              </a:rPr>
              <a:t>只上传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《OPQ全方位胜任力报告》（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统一命名）</a:t>
            </a:r>
            <a:r>
              <a:rPr lang="zh-CN" altLang="en-US" sz="1400" b="1" dirty="0">
                <a:latin typeface="+mj-ea"/>
                <a:ea typeface="+mj-ea"/>
              </a:rPr>
              <a:t>即OPQ 32 Universal Competence Report。</a:t>
            </a:r>
            <a:endParaRPr lang="zh-CN" altLang="en-US" sz="1400" b="1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1510" y="327025"/>
            <a:ext cx="40443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发起</a:t>
            </a:r>
            <a:r>
              <a:rPr kumimoji="1" 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审批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1510" y="327025"/>
            <a:ext cx="40443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发起</a:t>
            </a:r>
            <a:r>
              <a:rPr kumimoji="1" 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审批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15" y="1509395"/>
            <a:ext cx="10574020" cy="44443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774700" y="1095375"/>
            <a:ext cx="109086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审批状态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列会呈现当前审批进度，点击具体进度（如下图中的</a:t>
            </a:r>
            <a:r>
              <a:rPr lang="en-US" altLang="zh-CN" sz="1400" b="1" dirty="0">
                <a:latin typeface="+mj-ea"/>
                <a:ea typeface="+mj-ea"/>
              </a:rPr>
              <a:t>“</a:t>
            </a:r>
            <a:r>
              <a:rPr lang="zh-CN" altLang="en-US" sz="1400" b="1" dirty="0">
                <a:latin typeface="+mj-ea"/>
                <a:ea typeface="+mj-ea"/>
              </a:rPr>
              <a:t>审批未通过</a:t>
            </a:r>
            <a:r>
              <a:rPr lang="en-US" altLang="zh-CN" sz="1400" b="1" dirty="0">
                <a:latin typeface="+mj-ea"/>
                <a:ea typeface="+mj-ea"/>
              </a:rPr>
              <a:t>”</a:t>
            </a:r>
            <a:r>
              <a:rPr lang="zh-CN" altLang="en-US" sz="1400" b="1" dirty="0">
                <a:latin typeface="+mj-ea"/>
                <a:ea typeface="+mj-ea"/>
              </a:rPr>
              <a:t>），可以查看具体审批节点、审批人、审批</a:t>
            </a:r>
            <a:r>
              <a:rPr lang="zh-CN" altLang="en-US" sz="1400" b="1" dirty="0">
                <a:latin typeface="+mj-ea"/>
                <a:ea typeface="+mj-ea"/>
              </a:rPr>
              <a:t>结果。</a:t>
            </a:r>
            <a:endParaRPr lang="zh-CN" altLang="en-US" sz="1400" b="1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1510" y="327025"/>
            <a:ext cx="40443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审批状态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查询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0" y="1509395"/>
            <a:ext cx="7503160" cy="27025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003675"/>
            <a:ext cx="7891145" cy="27305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02640" y="1171945"/>
            <a:ext cx="1092962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审批完成，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在系统中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“offer”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管理界面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选择候选人所在行的最右侧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“...”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——“offer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，填写相关信息（带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“*”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为必填）。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1897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编辑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564765"/>
            <a:ext cx="10833100" cy="35826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02640" y="1028435"/>
            <a:ext cx="1092962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、明白度、潜力度、文化匹配度：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请填写终面官对候选人的实际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面试评分；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、录用公司：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候选人最终和哪个公司签合同，就选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哪个。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1897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编辑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" y="2276475"/>
            <a:ext cx="9630410" cy="42875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02640" y="1100190"/>
            <a:ext cx="1092962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编辑后，点击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“offer”——“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offer”——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选中相应候选人所在行右侧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“...”——“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注意：【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邮件】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务必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从北森发送（化名人选除外）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659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邮件发送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5" y="2204085"/>
            <a:ext cx="11439525" cy="38766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02640" y="1100455"/>
            <a:ext cx="11141075" cy="1976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ts val="21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ts val="21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、】处信息为【只读】，供核对信息用；如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不正确，需回到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ts val="21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、】处可自动生成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需根据候选人【实际录用公司】和【用工类型】选择相应模板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（生成后请打开检查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正确）；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ts val="2100"/>
              </a:lnSpc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、】处，可上传《入职体检指引》等其他附件（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如有）；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ts val="2100"/>
              </a:lnSpc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、】处，根据人选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报到地点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，按需抄送各地入职办理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入职接待相关人员（如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报到地点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为苏州，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请抄送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胡艳艳）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0">
              <a:lnSpc>
                <a:spcPts val="2100"/>
              </a:lnSpc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、】处，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模板请选择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社会招聘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659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邮件发送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840" y="3047365"/>
            <a:ext cx="6495415" cy="36112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949396" y="1128039"/>
            <a:ext cx="10283899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候选人收到通知邮件后，可以直接在邮件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短信中反馈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接受情况，线上记录留痕，便于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进行后续处理。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659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邮件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发送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988840"/>
            <a:ext cx="6929670" cy="432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10" y="2014855"/>
            <a:ext cx="10277475" cy="4432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983432" y="1228690"/>
            <a:ext cx="10441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依据候选人的回复（接受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拒绝），点击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“转移状态”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将该应聘者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转移至对应的状态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7542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Offer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状态转移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2"/>
          <p:cNvGrpSpPr>
            <a:grpSpLocks noChangeAspect="1"/>
          </p:cNvGrpSpPr>
          <p:nvPr/>
        </p:nvGrpSpPr>
        <p:grpSpPr>
          <a:xfrm>
            <a:off x="5397103" y="1411237"/>
            <a:ext cx="1397796" cy="1198748"/>
            <a:chOff x="5084763" y="971550"/>
            <a:chExt cx="323850" cy="277813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44" name="Freeform 301"/>
            <p:cNvSpPr>
              <a:spLocks noEditPoints="1"/>
            </p:cNvSpPr>
            <p:nvPr/>
          </p:nvSpPr>
          <p:spPr bwMode="auto">
            <a:xfrm>
              <a:off x="5191125" y="1031875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" name="Freeform 302"/>
            <p:cNvSpPr>
              <a:spLocks noEditPoints="1"/>
            </p:cNvSpPr>
            <p:nvPr/>
          </p:nvSpPr>
          <p:spPr bwMode="auto">
            <a:xfrm>
              <a:off x="5084763" y="971550"/>
              <a:ext cx="139700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618318" y="2660652"/>
            <a:ext cx="6955367" cy="85724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Part 8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-222250" y="3961765"/>
            <a:ext cx="12701270" cy="666750"/>
          </a:xfrm>
        </p:spPr>
        <p:txBody>
          <a:bodyPr/>
          <a:lstStyle/>
          <a:p>
            <a:pPr>
              <a:defRPr/>
            </a:pPr>
            <a:r>
              <a:rPr lang="zh-CN" altLang="en-US" sz="3200" b="1" dirty="0"/>
              <a:t>入职管理</a:t>
            </a:r>
            <a:r>
              <a:rPr lang="zh-CN" altLang="en-US" sz="3200" b="1" dirty="0">
                <a:solidFill>
                  <a:srgbClr val="FF0000"/>
                </a:solidFill>
              </a:rPr>
              <a:t>【特别重要】</a:t>
            </a:r>
            <a:endParaRPr lang="zh-CN" altLang="en-US" sz="3200" b="1" dirty="0"/>
          </a:p>
          <a:p>
            <a:pPr>
              <a:defRPr/>
            </a:pPr>
            <a:r>
              <a:rPr lang="zh-CN" altLang="en-US" sz="3200" b="1" dirty="0"/>
              <a:t>（通知采集信息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改期入职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取消入职</a:t>
            </a:r>
            <a:r>
              <a:rPr lang="en-US" altLang="zh-CN" sz="3200" b="1" dirty="0"/>
              <a:t>/offer</a:t>
            </a:r>
            <a:r>
              <a:rPr lang="zh-CN" altLang="en-US" sz="3200" b="1" dirty="0"/>
              <a:t>薪资</a:t>
            </a:r>
            <a:r>
              <a:rPr lang="zh-CN" altLang="en-US" sz="3200" b="1" dirty="0"/>
              <a:t>变动后需重发</a:t>
            </a:r>
            <a:r>
              <a:rPr lang="en-US" altLang="zh-CN" sz="3200" b="1" dirty="0"/>
              <a:t>offer</a:t>
            </a:r>
            <a:r>
              <a:rPr lang="zh-CN" altLang="en-US" sz="3200" b="1" dirty="0"/>
              <a:t>）</a:t>
            </a:r>
            <a:endParaRPr lang="zh-CN" altLang="en-US" sz="3200" b="1" dirty="0"/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630" y="1269365"/>
            <a:ext cx="110464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、被转移到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“已接受offer”状态的人员，会由系统自动同步到“入职管理”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需给待入职人员发送【通知采集信息】邮件并跟进人选完成采集：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点击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入职管理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全部待入职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选择对应的候选人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通知采集信息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，并在入职前确认人选已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完成填写。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通知采集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信息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2940050"/>
            <a:ext cx="11455400" cy="26847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630" y="1269365"/>
            <a:ext cx="110464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、如果在发出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后，需要修改入职日期或取消入职，则点击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入职管理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更多操作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”——“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改期入职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取消入职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特别注意：为了确保招聘模块的信息能与组织人事模块实现同步更新，针对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已经发出了offer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的人选，如果在【offer发出后】需要修改  入职日期、业务线、部门、职位、部门负责人、导师  等信息，请大家到单独的【入职管理】模块——【全部待入职】——【编辑】里修改哈~（请注意，对于已经发出offer的人选，不要再到【offer】下的【offer编辑】模块修改信息，因为无法重新同步给其他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模块~）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34213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改期入职</a:t>
            </a:r>
            <a:r>
              <a:rPr kumimoji="1" lang="en-US" altLang="zh-CN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/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取消</a:t>
            </a:r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入职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3620135"/>
            <a:ext cx="11192510" cy="27965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630" y="1269365"/>
            <a:ext cx="110464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、如果在发出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后，候选人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薪资需要变动、重发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为了确保薪酬模块的同事能准确接收到更新后的薪资，请严格按如下步骤操作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）删掉系统中此人在【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下已有的offer记录（联系招聘模块管理员）和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已有的待入职记录（联系组织人事模块管理员）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。【因为已发出的offer是已经固定存档的，后面再在原始offer记录的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编辑里修改任何信息，都是不会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重新同步到招聘报表、组织人事、薪酬等任何模块的】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2、将人选在【应聘者】里重新转移到“offer环节-接受口头offer”，以生成一条新的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待发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，并重新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审批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，审批通过后，在该条新的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记录上再进行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转移状态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特别注意：如不按此步骤操作，更新后的薪资无法同步给薪酬的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同事。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5135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offer薪资变动后需重发offer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387350"/>
            <a:ext cx="11417300" cy="6083300"/>
          </a:xfrm>
          <a:prstGeom prst="rect">
            <a:avLst/>
          </a:prstGeom>
        </p:spPr>
      </p:pic>
      <p:sp>
        <p:nvSpPr>
          <p:cNvPr id="24" name="文本框 28"/>
          <p:cNvSpPr txBox="1"/>
          <p:nvPr/>
        </p:nvSpPr>
        <p:spPr>
          <a:xfrm>
            <a:off x="2943940" y="1155354"/>
            <a:ext cx="3246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200" dirty="0">
                <a:solidFill>
                  <a:srgbClr val="00B0B9"/>
                </a:solidFill>
                <a:latin typeface="Canaro Medium" pitchFamily="2" charset="0"/>
              </a:rPr>
              <a:t>CONTENTS</a:t>
            </a:r>
            <a:endParaRPr kumimoji="1" lang="zh-CN" altLang="en-US" sz="4200" dirty="0">
              <a:solidFill>
                <a:srgbClr val="00B0B9"/>
              </a:solidFill>
              <a:latin typeface="Canaro Medium" pitchFamily="2" charset="0"/>
            </a:endParaRPr>
          </a:p>
        </p:txBody>
      </p:sp>
      <p:sp>
        <p:nvSpPr>
          <p:cNvPr id="26" name="文本框 30"/>
          <p:cNvSpPr txBox="1"/>
          <p:nvPr/>
        </p:nvSpPr>
        <p:spPr>
          <a:xfrm>
            <a:off x="2943940" y="1898949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目录</a:t>
            </a:r>
            <a:endParaRPr kumimoji="1" lang="zh-CN" altLang="en-US" sz="35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grpSp>
        <p:nvGrpSpPr>
          <p:cNvPr id="27" name="组合 35"/>
          <p:cNvGrpSpPr/>
          <p:nvPr/>
        </p:nvGrpSpPr>
        <p:grpSpPr>
          <a:xfrm>
            <a:off x="6384032" y="1552566"/>
            <a:ext cx="1150673" cy="711592"/>
            <a:chOff x="2376550" y="982844"/>
            <a:chExt cx="959492" cy="695829"/>
          </a:xfrm>
        </p:grpSpPr>
        <p:sp>
          <p:nvSpPr>
            <p:cNvPr id="28" name="平行四边形 27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29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0" name="平行四边形 29"/>
          <p:cNvSpPr/>
          <p:nvPr/>
        </p:nvSpPr>
        <p:spPr>
          <a:xfrm>
            <a:off x="7528507" y="1566533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7"/>
          <p:cNvSpPr txBox="1"/>
          <p:nvPr/>
        </p:nvSpPr>
        <p:spPr>
          <a:xfrm>
            <a:off x="8031152" y="1689398"/>
            <a:ext cx="35971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3CC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rgbClr val="83BCC1"/>
                </a:solidFill>
              </a:rPr>
              <a:t>登录准备</a:t>
            </a:r>
            <a:endParaRPr lang="zh-CN" altLang="en-US" dirty="0">
              <a:solidFill>
                <a:srgbClr val="83BCC1"/>
              </a:solidFill>
            </a:endParaRPr>
          </a:p>
        </p:txBody>
      </p:sp>
      <p:grpSp>
        <p:nvGrpSpPr>
          <p:cNvPr id="34" name="组合 60"/>
          <p:cNvGrpSpPr/>
          <p:nvPr/>
        </p:nvGrpSpPr>
        <p:grpSpPr>
          <a:xfrm>
            <a:off x="6384032" y="2790039"/>
            <a:ext cx="1150673" cy="711592"/>
            <a:chOff x="2376550" y="982844"/>
            <a:chExt cx="959492" cy="695829"/>
          </a:xfrm>
        </p:grpSpPr>
        <p:sp>
          <p:nvSpPr>
            <p:cNvPr id="36" name="平行四边形 35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37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0" name="平行四边形 39"/>
          <p:cNvSpPr/>
          <p:nvPr/>
        </p:nvSpPr>
        <p:spPr>
          <a:xfrm>
            <a:off x="7528507" y="2790042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7"/>
          <p:cNvSpPr txBox="1"/>
          <p:nvPr/>
        </p:nvSpPr>
        <p:spPr>
          <a:xfrm>
            <a:off x="8031151" y="2885593"/>
            <a:ext cx="3193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</a:rPr>
              <a:t>招聘各阶段</a:t>
            </a:r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</a:rPr>
              <a:t>操作指引</a:t>
            </a:r>
            <a:endParaRPr lang="zh-CN" altLang="en-US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  <p:grpSp>
        <p:nvGrpSpPr>
          <p:cNvPr id="43" name="组合 64"/>
          <p:cNvGrpSpPr/>
          <p:nvPr/>
        </p:nvGrpSpPr>
        <p:grpSpPr>
          <a:xfrm>
            <a:off x="6384032" y="4013552"/>
            <a:ext cx="1150673" cy="711592"/>
            <a:chOff x="2376550" y="982844"/>
            <a:chExt cx="959492" cy="695829"/>
          </a:xfrm>
        </p:grpSpPr>
        <p:sp>
          <p:nvSpPr>
            <p:cNvPr id="44" name="平行四边形 43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5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6" name="平行四边形 45"/>
          <p:cNvSpPr/>
          <p:nvPr/>
        </p:nvSpPr>
        <p:spPr>
          <a:xfrm>
            <a:off x="7528507" y="4013554"/>
            <a:ext cx="3823875" cy="697625"/>
          </a:xfrm>
          <a:prstGeom prst="parallelogram">
            <a:avLst>
              <a:gd name="adj" fmla="val 48207"/>
            </a:avLst>
          </a:prstGeom>
          <a:solidFill>
            <a:srgbClr val="008E9D"/>
          </a:solidFill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8032832" y="4136660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重点事项强调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" name="组合 64"/>
          <p:cNvGrpSpPr/>
          <p:nvPr/>
        </p:nvGrpSpPr>
        <p:grpSpPr>
          <a:xfrm>
            <a:off x="6190357" y="5202272"/>
            <a:ext cx="1150673" cy="711592"/>
            <a:chOff x="2376550" y="982844"/>
            <a:chExt cx="959492" cy="695829"/>
          </a:xfrm>
        </p:grpSpPr>
        <p:sp>
          <p:nvSpPr>
            <p:cNvPr id="3" name="平行四边形 2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" name="平行四边形 4"/>
          <p:cNvSpPr/>
          <p:nvPr/>
        </p:nvSpPr>
        <p:spPr>
          <a:xfrm>
            <a:off x="7475167" y="5216377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7977811" y="5311928"/>
            <a:ext cx="3193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</a:rPr>
              <a:t>常见</a:t>
            </a:r>
            <a:r>
              <a:rPr lang="en-US" altLang="zh-CN" sz="2400" b="1" dirty="0">
                <a:solidFill>
                  <a:srgbClr val="83BCC1"/>
                </a:solidFill>
                <a:latin typeface="+mj-ea"/>
                <a:ea typeface="+mj-ea"/>
              </a:rPr>
              <a:t>Q&amp;A</a:t>
            </a:r>
            <a:endParaRPr lang="en-US" altLang="zh-CN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6410" y="1115060"/>
            <a:ext cx="115468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【非常重要】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统一系统流程操作：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新建职位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导入简历并进行查重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查相似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若无重复，则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与人选进行电话沟通确认意向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——HR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给自己安排面试，选择并填写《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初筛评价表》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安排用人部门进行简历筛选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安排部门面试，部门在完成面试后填写《用人部门面试评价表》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邀请测评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测评通过后，安排终面官面（给俞总、大乐等的终面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暂不启用系统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谈薪成功的，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转移到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接受口头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offer”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“offer”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管理模块，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进行线上offer审批——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编辑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offer——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到已接受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后，进入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入职管理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模块，发送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通知信息采集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注意事项：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与人选沟通前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认为合适的简历均须导入系统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，并完善人选姓名、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联系电话（须真实、有效，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不可以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录入虚拟号码）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邮箱。</a:t>
            </a:r>
            <a:endParaRPr lang="en-US" altLang="zh-CN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②简历锁定：放置于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简历初筛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已处理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及之后的简历会被自动锁定</a:t>
            </a:r>
            <a:r>
              <a:rPr 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（前提是该份简历有联系方式）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简历筛选通过的简历且已进行过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初步沟通；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务必要求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面试官在系统中反馈面试结果及评价；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⑤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务必实时更新候选人所处的阶段及状态，尤其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不合适或被淘汰的人选请一定及时转移到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淘汰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状态。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050" y="4224020"/>
            <a:ext cx="7404735" cy="2286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4160520"/>
            <a:ext cx="2376805" cy="25679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0090" y="1115060"/>
            <a:ext cx="1125855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关于查重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方式一：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简历上传时，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通过“新建应聘者”导入的简历且系统中的该份简历已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有联系方式的，可在导入简历时100%实现查重；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通过“talent eye”插件导入简历的，同一渠道的同一份简历不能实现查重；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北森产品设计原因，不支持首页搜索查重。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方式二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（推荐）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简历上传后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，通过查看和点击候选人姓名后面的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“X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次应聘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判断是否重复和了解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应聘的职位详情；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无重复简历的，以及有重复简历但阶段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状态是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简历初筛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进行中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或者状态在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本轮淘汰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下的简历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，其他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可以重复联系；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有重复简历且候选人在非简历初筛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进行中以及非本轮淘汰的，说明该人选在有效流程中，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其他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不可重复联系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165" y="3374390"/>
            <a:ext cx="8601075" cy="335153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4700" y="1115060"/>
            <a:ext cx="112585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、关于查相似：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手动点击简历右侧”更多“——”查找相似简历“按钮，进行查相似。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255" y="1836420"/>
            <a:ext cx="8825865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4700" y="1115060"/>
            <a:ext cx="1125855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、关于安排面试：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应聘者简历转移到HR面及之后的阶段时，右侧才会出现”安排面试“按钮；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安排面试时，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务必根据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基本信息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选择正确的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面试评价表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，其中，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√ 基本信息：第一轮面试为初试，最后一轮面试为终试，其他均为复试。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√ 面试评价表：社招+HR面的，选择《社招-HR初筛评价表》；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15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社招+用人部门面试的，选择《用人部门面试评价表》；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15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社招+终面官面的，选择《终面官面试评价表》。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480" y="3041015"/>
            <a:ext cx="4890770" cy="36264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821940"/>
            <a:ext cx="6826885" cy="36353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2945" y="1200785"/>
            <a:ext cx="106197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5、关于Offer管理：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对于谈薪成功需要发放offer的，先将应聘者简历转移到</a:t>
            </a:r>
            <a:r>
              <a:rPr kumimoji="1"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offer环节-接受口头offer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（如左图）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，再进入单独的offer管理界面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发起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审批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（如右图），通过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后再进行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编辑、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发送（含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</a:t>
            </a:r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offer</a:t>
            </a:r>
            <a:r>
              <a:rPr kumimoji="1"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附件）。</a:t>
            </a:r>
            <a:endParaRPr kumimoji="1"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984375"/>
            <a:ext cx="5521325" cy="29279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820" y="3561080"/>
            <a:ext cx="7259320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02640" y="1100190"/>
            <a:ext cx="1092962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、关于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发送（含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生成Offer附件）：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后的三个点点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，选择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，根据候选人签订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合同的公司，选择对应的模板。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生成后，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务必点击附件检查是否有误，并选择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再点击确认并发送。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注：①社招模板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社招但无期权；期权模板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社招有期权；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②应届生模板中有强制填写实习期，如无实习期的应届生可直接用社招模板，口头和候选人讲无须准备离职证明和薪酬证明。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635" y="3112135"/>
            <a:ext cx="5990590" cy="3674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45" y="3479165"/>
            <a:ext cx="4451350" cy="286385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51510" y="1100455"/>
            <a:ext cx="1108075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【重要】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关于拒绝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的操作：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概念统一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谈薪成功但还未发送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邮件的；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邮件但候选人还未答复确认的；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已拒绝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邮件后候选人拒绝的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（谈薪失败的和在发送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邮件前候选人就拒绝的，均不计入拒绝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：①如果候选人在接受口头offer后、收到offer邮件前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（即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在系统的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请从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待发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中直接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（如左图）；②如果候选人是在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邮件后拒绝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的，请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转移状态至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已拒绝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3192145"/>
            <a:ext cx="5570220" cy="2895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995" y="3879215"/>
            <a:ext cx="6530340" cy="282257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51510" y="1100455"/>
            <a:ext cx="1108075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【重要】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关于简历及时释放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在任何一个环节被判定为不合适而被淘汰的候选人，请实时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淘汰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按钮完成简历释放。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淘汰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的简历会自动释放到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人才库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人才公海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，原职位上的简历仍会被保留；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如果该份简历在多个职位上，则只有当在所有职位上都被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淘汰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后，该份简历才会自动进入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人才公海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12" name="文本框 46"/>
          <p:cNvSpPr txBox="1"/>
          <p:nvPr/>
        </p:nvSpPr>
        <p:spPr>
          <a:xfrm>
            <a:off x="651604" y="326942"/>
            <a:ext cx="246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sym typeface="+mn-ea"/>
              </a:rPr>
              <a:t>重点事项强调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387350"/>
            <a:ext cx="11417300" cy="6083300"/>
          </a:xfrm>
          <a:prstGeom prst="rect">
            <a:avLst/>
          </a:prstGeom>
        </p:spPr>
      </p:pic>
      <p:sp>
        <p:nvSpPr>
          <p:cNvPr id="24" name="文本框 28"/>
          <p:cNvSpPr txBox="1"/>
          <p:nvPr/>
        </p:nvSpPr>
        <p:spPr>
          <a:xfrm>
            <a:off x="2943940" y="1155354"/>
            <a:ext cx="3246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200" dirty="0">
                <a:solidFill>
                  <a:srgbClr val="00B0B9"/>
                </a:solidFill>
                <a:latin typeface="Canaro Medium" pitchFamily="2" charset="0"/>
              </a:rPr>
              <a:t>CONTENTS</a:t>
            </a:r>
            <a:endParaRPr kumimoji="1" lang="zh-CN" altLang="en-US" sz="4200" dirty="0">
              <a:solidFill>
                <a:srgbClr val="00B0B9"/>
              </a:solidFill>
              <a:latin typeface="Canaro Medium" pitchFamily="2" charset="0"/>
            </a:endParaRPr>
          </a:p>
        </p:txBody>
      </p:sp>
      <p:sp>
        <p:nvSpPr>
          <p:cNvPr id="26" name="文本框 30"/>
          <p:cNvSpPr txBox="1"/>
          <p:nvPr/>
        </p:nvSpPr>
        <p:spPr>
          <a:xfrm>
            <a:off x="2943940" y="1898949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目录</a:t>
            </a:r>
            <a:endParaRPr kumimoji="1" lang="zh-CN" altLang="en-US" sz="35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grpSp>
        <p:nvGrpSpPr>
          <p:cNvPr id="27" name="组合 35"/>
          <p:cNvGrpSpPr/>
          <p:nvPr/>
        </p:nvGrpSpPr>
        <p:grpSpPr>
          <a:xfrm>
            <a:off x="6384032" y="1552566"/>
            <a:ext cx="1150673" cy="711592"/>
            <a:chOff x="2376550" y="982844"/>
            <a:chExt cx="959492" cy="695829"/>
          </a:xfrm>
        </p:grpSpPr>
        <p:sp>
          <p:nvSpPr>
            <p:cNvPr id="28" name="平行四边形 27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29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0" name="平行四边形 29"/>
          <p:cNvSpPr/>
          <p:nvPr/>
        </p:nvSpPr>
        <p:spPr>
          <a:xfrm>
            <a:off x="7528507" y="1566533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7"/>
          <p:cNvSpPr txBox="1"/>
          <p:nvPr/>
        </p:nvSpPr>
        <p:spPr>
          <a:xfrm>
            <a:off x="8031152" y="1689398"/>
            <a:ext cx="35971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3CC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rgbClr val="83BCC1"/>
                </a:solidFill>
              </a:rPr>
              <a:t>招聘系统环境要求</a:t>
            </a:r>
            <a:endParaRPr lang="zh-CN" altLang="en-US" dirty="0">
              <a:solidFill>
                <a:srgbClr val="83BCC1"/>
              </a:solidFill>
            </a:endParaRPr>
          </a:p>
        </p:txBody>
      </p:sp>
      <p:grpSp>
        <p:nvGrpSpPr>
          <p:cNvPr id="34" name="组合 60"/>
          <p:cNvGrpSpPr/>
          <p:nvPr/>
        </p:nvGrpSpPr>
        <p:grpSpPr>
          <a:xfrm>
            <a:off x="6384032" y="2790039"/>
            <a:ext cx="1150673" cy="711592"/>
            <a:chOff x="2376550" y="982844"/>
            <a:chExt cx="959492" cy="695829"/>
          </a:xfrm>
        </p:grpSpPr>
        <p:sp>
          <p:nvSpPr>
            <p:cNvPr id="36" name="平行四边形 35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37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0" name="平行四边形 39"/>
          <p:cNvSpPr/>
          <p:nvPr/>
        </p:nvSpPr>
        <p:spPr>
          <a:xfrm>
            <a:off x="7528507" y="2790042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7"/>
          <p:cNvSpPr txBox="1"/>
          <p:nvPr/>
        </p:nvSpPr>
        <p:spPr>
          <a:xfrm>
            <a:off x="8031151" y="2885593"/>
            <a:ext cx="3193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3BCC1"/>
                </a:solidFill>
                <a:latin typeface="+mj-ea"/>
                <a:ea typeface="+mj-ea"/>
              </a:rPr>
              <a:t>招聘系统操作指引</a:t>
            </a:r>
            <a:endParaRPr lang="zh-CN" altLang="en-US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  <p:grpSp>
        <p:nvGrpSpPr>
          <p:cNvPr id="43" name="组合 64"/>
          <p:cNvGrpSpPr/>
          <p:nvPr/>
        </p:nvGrpSpPr>
        <p:grpSpPr>
          <a:xfrm>
            <a:off x="6384032" y="4013552"/>
            <a:ext cx="1150673" cy="711592"/>
            <a:chOff x="2376550" y="982844"/>
            <a:chExt cx="959492" cy="695829"/>
          </a:xfrm>
        </p:grpSpPr>
        <p:sp>
          <p:nvSpPr>
            <p:cNvPr id="44" name="平行四边形 43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5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6" name="平行四边形 45"/>
          <p:cNvSpPr/>
          <p:nvPr/>
        </p:nvSpPr>
        <p:spPr>
          <a:xfrm>
            <a:off x="7281492" y="5170524"/>
            <a:ext cx="3823875" cy="697625"/>
          </a:xfrm>
          <a:prstGeom prst="parallelogram">
            <a:avLst>
              <a:gd name="adj" fmla="val 48207"/>
            </a:avLst>
          </a:prstGeom>
          <a:solidFill>
            <a:srgbClr val="008E9D"/>
          </a:solidFill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常见</a:t>
            </a: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Q&amp;A</a:t>
            </a:r>
            <a:endParaRPr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8032832" y="4136660"/>
            <a:ext cx="319248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重点事项强调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" name="组合 64"/>
          <p:cNvGrpSpPr/>
          <p:nvPr/>
        </p:nvGrpSpPr>
        <p:grpSpPr>
          <a:xfrm>
            <a:off x="6190357" y="5202272"/>
            <a:ext cx="1150673" cy="711592"/>
            <a:chOff x="2376550" y="982844"/>
            <a:chExt cx="959492" cy="695829"/>
          </a:xfrm>
        </p:grpSpPr>
        <p:sp>
          <p:nvSpPr>
            <p:cNvPr id="3" name="平行四边形 2"/>
            <p:cNvSpPr/>
            <p:nvPr/>
          </p:nvSpPr>
          <p:spPr>
            <a:xfrm>
              <a:off x="2376550" y="982844"/>
              <a:ext cx="959492" cy="695829"/>
            </a:xfrm>
            <a:prstGeom prst="parallelogram">
              <a:avLst>
                <a:gd name="adj" fmla="val 48207"/>
              </a:avLst>
            </a:prstGeom>
            <a:solidFill>
              <a:srgbClr val="008E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625">
                <a:latin typeface="Impact" panose="020B0806030902050204" pitchFamily="34" charset="0"/>
              </a:endParaRPr>
            </a:p>
          </p:txBody>
        </p:sp>
        <p:sp>
          <p:nvSpPr>
            <p:cNvPr id="4" name="文本框 9"/>
            <p:cNvSpPr txBox="1"/>
            <p:nvPr/>
          </p:nvSpPr>
          <p:spPr>
            <a:xfrm>
              <a:off x="2590384" y="982844"/>
              <a:ext cx="696251" cy="651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" name="平行四边形 4"/>
          <p:cNvSpPr/>
          <p:nvPr/>
        </p:nvSpPr>
        <p:spPr>
          <a:xfrm>
            <a:off x="7475167" y="4027657"/>
            <a:ext cx="3823875" cy="697625"/>
          </a:xfrm>
          <a:prstGeom prst="parallelogram">
            <a:avLst>
              <a:gd name="adj" fmla="val 48207"/>
            </a:avLst>
          </a:prstGeom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28580" tIns="64290" rIns="128580" bIns="64290" rtlCol="0" anchor="ctr"/>
          <a:p>
            <a:endParaRPr lang="zh-CN" altLang="en-US" sz="3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7791121" y="4116858"/>
            <a:ext cx="3193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dirty="0">
                <a:solidFill>
                  <a:srgbClr val="83BCC1"/>
                </a:solidFill>
                <a:latin typeface="+mj-ea"/>
                <a:ea typeface="+mj-ea"/>
              </a:rPr>
              <a:t>重点事项强调</a:t>
            </a:r>
            <a:endParaRPr lang="zh-CN" sz="2400" b="1" dirty="0">
              <a:solidFill>
                <a:srgbClr val="83BCC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40" y="1270501"/>
            <a:ext cx="979308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：为什么创建职位的时候无法填写“简历收取邮箱”信息？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：“简历收取邮箱”不支持手动输入，而是需要管理员在“设置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收取邮箱设置“中将该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设置为共享者。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2209157"/>
            <a:ext cx="4676775" cy="2733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845" y="3068960"/>
            <a:ext cx="7181850" cy="3457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直角上箭头 3">
            <a:hlinkClick r:id="rId6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40" y="1270501"/>
            <a:ext cx="979308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：在北森系统职位创建之后发布广告到网站上，但是简历没有收取进系统中是为什么？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：①在北森创建职位时，简历收取邮箱必选；②发布广告到招聘网站的收取邮箱至少保留集团邮箱（和创建职位时的邮箱一致）；③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北森和网站上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的职位名称须完全一致（含职位编号）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472" y="2564904"/>
            <a:ext cx="9695424" cy="4029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矩形 2"/>
          <p:cNvSpPr/>
          <p:nvPr/>
        </p:nvSpPr>
        <p:spPr bwMode="auto">
          <a:xfrm>
            <a:off x="1513378" y="3429000"/>
            <a:ext cx="7606958" cy="64807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直角上箭头 13">
            <a:hlinkClick r:id="rId5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40" y="1270501"/>
            <a:ext cx="979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：北森系统抓取邮箱中的简历会有延迟，是否可以手动抓取或者提前抓取？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：可以，在设置的“收取邮箱设置”中能够找到“手动收取”的按钮。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27" y="3140968"/>
            <a:ext cx="10896600" cy="3371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39" y="2276872"/>
            <a:ext cx="4676775" cy="2733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直角上箭头 12">
            <a:hlinkClick r:id="rId6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40" y="1270501"/>
            <a:ext cx="97930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：在招聘系统中进行职位的滚动管理（暂停、结束）的时候，网站广告是否会同步停用？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talent eye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插件发布到第三方网站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的广告需要手动进入网站后台停用。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800" y="2636912"/>
            <a:ext cx="4533900" cy="3171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3103636"/>
            <a:ext cx="5286375" cy="2562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直角上箭头 9">
            <a:hlinkClick r:id="rId6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40" y="1270501"/>
            <a:ext cx="9793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在系统中是否可以批量安排多个应聘者给同一个面试官进行面试，并且区分不同的面试时间。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：可以，在批量安排面试的时候注意选择面试开始时间和面试持续时间，并且选择面试类型为“个人面试”，直接安排就可以了。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10" y="2564904"/>
            <a:ext cx="6010275" cy="3990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5" y="3573016"/>
            <a:ext cx="5153025" cy="314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146" y="2348880"/>
            <a:ext cx="5210175" cy="3381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直角上箭头 13">
            <a:hlinkClick r:id="rId7" action="ppaction://hlinksldjump"/>
          </p:cNvPr>
          <p:cNvSpPr/>
          <p:nvPr/>
        </p:nvSpPr>
        <p:spPr bwMode="auto">
          <a:xfrm rot="16200000">
            <a:off x="11140685" y="6046509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39" y="1270501"/>
            <a:ext cx="10177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：线下或者微信提供的内部推荐简历如何导入系统？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：可以使用手动导入功能，在导入的时候选择渠道为“内部推荐”，并且标注推荐员工就可以。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2187177"/>
            <a:ext cx="5915025" cy="4276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直角上箭头 13">
            <a:hlinkClick r:id="rId5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762" y="3626192"/>
            <a:ext cx="6362700" cy="2886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055439" y="1270501"/>
            <a:ext cx="101778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：如果有特殊情况的应聘者，不经过招聘流程直接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并且录用，应该如何操作？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：在招聘模块中新增应聘者的信息，并且进行阶段转移，转移到“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已接受口头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”，然后进入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“Offer”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管理模块，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会自动在“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管理”模块中生成一份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信息，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不要直接点击“新建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offer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，这样无法和应聘者产生关联，也无法匹配招聘需求。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13" name="直角上箭头 12">
            <a:hlinkClick r:id="rId5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61" y="2470830"/>
            <a:ext cx="5019675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22" y="2285992"/>
            <a:ext cx="6249827" cy="3486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055439" y="1270501"/>
            <a:ext cx="10177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：如何将已有信息导出应聘者登记表，无需应聘者重复填写？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：在应聘者列表页面中，勾选需要导出信息的应聘者，并且选择“更多操作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导出数据”，在弹出的新窗口中选择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应字段或者导出模板申请表。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0895" y="382142"/>
            <a:ext cx="1144800" cy="351072"/>
          </a:xfrm>
          <a:prstGeom prst="rect">
            <a:avLst/>
          </a:prstGeom>
        </p:spPr>
      </p:pic>
      <p:sp>
        <p:nvSpPr>
          <p:cNvPr id="9" name="文本框 46"/>
          <p:cNvSpPr txBox="1"/>
          <p:nvPr/>
        </p:nvSpPr>
        <p:spPr>
          <a:xfrm>
            <a:off x="651604" y="326942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常见问题</a:t>
            </a:r>
            <a:endParaRPr kumimoji="1" lang="zh-CN" altLang="en-US" sz="30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39" y="377890"/>
            <a:ext cx="1778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1115339"/>
            <a:ext cx="11417300" cy="12700"/>
          </a:xfrm>
          <a:prstGeom prst="rect">
            <a:avLst/>
          </a:prstGeom>
        </p:spPr>
      </p:pic>
      <p:sp>
        <p:nvSpPr>
          <p:cNvPr id="13" name="直角上箭头 12">
            <a:hlinkClick r:id="rId5" action="ppaction://hlinksldjump"/>
          </p:cNvPr>
          <p:cNvSpPr/>
          <p:nvPr/>
        </p:nvSpPr>
        <p:spPr bwMode="auto">
          <a:xfrm rot="16200000">
            <a:off x="546072" y="6017162"/>
            <a:ext cx="433238" cy="585503"/>
          </a:xfrm>
          <a:prstGeom prst="bentUpArrow">
            <a:avLst>
              <a:gd name="adj1" fmla="val 29899"/>
              <a:gd name="adj2" fmla="val 37363"/>
              <a:gd name="adj3" fmla="val 371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05522" y="2643182"/>
            <a:ext cx="5786478" cy="261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350" y="0"/>
            <a:ext cx="12179300" cy="6858000"/>
          </a:xfrm>
          <a:prstGeom prst="rect">
            <a:avLst/>
          </a:prstGeom>
          <a:solidFill>
            <a:srgbClr val="00B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387350"/>
            <a:ext cx="11417300" cy="60833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24" y="4765796"/>
            <a:ext cx="1320800" cy="1320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40285" y="6269334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 err="1">
                <a:solidFill>
                  <a:schemeClr val="bg1"/>
                </a:solidFill>
                <a:latin typeface="Canaro Book" pitchFamily="2" charset="0"/>
              </a:rPr>
              <a:t>www.beisen.com</a:t>
            </a:r>
            <a:endParaRPr kumimoji="1" lang="zh-CN" altLang="en-US" sz="1400" dirty="0">
              <a:solidFill>
                <a:schemeClr val="bg1"/>
              </a:solidFill>
              <a:latin typeface="Canaro Book" pitchFamily="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4034" y="1952981"/>
            <a:ext cx="48474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400" dirty="0">
                <a:solidFill>
                  <a:srgbClr val="00B0B9"/>
                </a:solidFill>
                <a:latin typeface="Canaro Medium" pitchFamily="2" charset="0"/>
              </a:rPr>
              <a:t>THANKS</a:t>
            </a:r>
            <a:endParaRPr kumimoji="1" lang="zh-CN" altLang="en-US" sz="8400" dirty="0">
              <a:solidFill>
                <a:srgbClr val="00B0B9"/>
              </a:solidFill>
              <a:latin typeface="Canaro Medium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5767" y="4758023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0B0B9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</a:rPr>
              <a:t>让中国企业拥有世界领先的人才管理能力</a:t>
            </a:r>
            <a:endParaRPr kumimoji="1" lang="zh-CN" altLang="en-US" dirty="0">
              <a:solidFill>
                <a:srgbClr val="00B0B9"/>
              </a:solidFill>
              <a:latin typeface="FZLanTingHeiS-B-GB" panose="02000000000000000000" pitchFamily="2" charset="-122"/>
              <a:ea typeface="FZLanTingHeiS-B-GB" panose="020000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95767" y="5510643"/>
            <a:ext cx="2877711" cy="308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kumimoji="1" lang="zh-CN" altLang="en-US" sz="1400" dirty="0">
                <a:solidFill>
                  <a:srgbClr val="00B0B9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</a:rPr>
              <a:t>为实现这一愿景，北森砥砺前行！</a:t>
            </a:r>
            <a:endParaRPr kumimoji="1" lang="zh-CN" altLang="en-US" sz="1400" dirty="0">
              <a:solidFill>
                <a:srgbClr val="00B0B9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95767" y="5818804"/>
            <a:ext cx="1561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00B0B9"/>
                </a:solidFill>
                <a:latin typeface="Canaro Medium" pitchFamily="2" charset="0"/>
              </a:rPr>
              <a:t>400-650-6878</a:t>
            </a:r>
            <a:endParaRPr kumimoji="1" lang="zh-CN" altLang="en-US" sz="1400" dirty="0">
              <a:solidFill>
                <a:srgbClr val="00B0B9"/>
              </a:solidFill>
              <a:latin typeface="Canaro Medium" pitchFamily="2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421" y="380934"/>
            <a:ext cx="1905000" cy="584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YzNjBkOTgyNWQ1YTMxYzM3MzMwNWFiODNmOWIzYWMifQ=="/>
</p:tagLst>
</file>

<file path=ppt/theme/theme1.xml><?xml version="1.0" encoding="utf-8"?>
<a:theme xmlns:a="http://schemas.openxmlformats.org/drawingml/2006/main" name="兰">
  <a:themeElements>
    <a:clrScheme name="北森-兰素雅风">
      <a:dk1>
        <a:srgbClr val="0D989B"/>
      </a:dk1>
      <a:lt1>
        <a:srgbClr val="FFFFFF"/>
      </a:lt1>
      <a:dk2>
        <a:srgbClr val="242424"/>
      </a:dk2>
      <a:lt2>
        <a:srgbClr val="FFFFFF"/>
      </a:lt2>
      <a:accent1>
        <a:srgbClr val="0D989B"/>
      </a:accent1>
      <a:accent2>
        <a:srgbClr val="92D050"/>
      </a:accent2>
      <a:accent3>
        <a:srgbClr val="FF9933"/>
      </a:accent3>
      <a:accent4>
        <a:srgbClr val="6DAA2D"/>
      </a:accent4>
      <a:accent5>
        <a:srgbClr val="009900"/>
      </a:accent5>
      <a:accent6>
        <a:srgbClr val="1AB39F"/>
      </a:accent6>
      <a:hlink>
        <a:srgbClr val="FFC000"/>
      </a:hlink>
      <a:folHlink>
        <a:srgbClr val="DB3D63"/>
      </a:folHlink>
    </a:clrScheme>
    <a:fontScheme name="北森-兰灰素雅风">
      <a:majorFont>
        <a:latin typeface="华文细黑"/>
        <a:ea typeface="微软雅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兰">
  <a:themeElements>
    <a:clrScheme name="北森-兰素雅风">
      <a:dk1>
        <a:srgbClr val="0D989B"/>
      </a:dk1>
      <a:lt1>
        <a:srgbClr val="FFFFFF"/>
      </a:lt1>
      <a:dk2>
        <a:srgbClr val="242424"/>
      </a:dk2>
      <a:lt2>
        <a:srgbClr val="FFFFFF"/>
      </a:lt2>
      <a:accent1>
        <a:srgbClr val="0D989B"/>
      </a:accent1>
      <a:accent2>
        <a:srgbClr val="92D050"/>
      </a:accent2>
      <a:accent3>
        <a:srgbClr val="FF9933"/>
      </a:accent3>
      <a:accent4>
        <a:srgbClr val="6DAA2D"/>
      </a:accent4>
      <a:accent5>
        <a:srgbClr val="009900"/>
      </a:accent5>
      <a:accent6>
        <a:srgbClr val="1AB39F"/>
      </a:accent6>
      <a:hlink>
        <a:srgbClr val="FFC000"/>
      </a:hlink>
      <a:folHlink>
        <a:srgbClr val="DB3D63"/>
      </a:folHlink>
    </a:clrScheme>
    <a:fontScheme name="北森-兰灰素雅风">
      <a:majorFont>
        <a:latin typeface="华文细黑"/>
        <a:ea typeface="微软雅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兰</Template>
  <TotalTime>0</TotalTime>
  <Words>10478</Words>
  <Application>WPS 演示</Application>
  <PresentationFormat>自定义</PresentationFormat>
  <Paragraphs>645</Paragraphs>
  <Slides>88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88</vt:i4>
      </vt:variant>
    </vt:vector>
  </HeadingPairs>
  <TitlesOfParts>
    <vt:vector size="111" baseType="lpstr">
      <vt:lpstr>Arial</vt:lpstr>
      <vt:lpstr>宋体</vt:lpstr>
      <vt:lpstr>Wingdings</vt:lpstr>
      <vt:lpstr>Calibri</vt:lpstr>
      <vt:lpstr>Calibri Light</vt:lpstr>
      <vt:lpstr>华文细黑</vt:lpstr>
      <vt:lpstr>微软雅黑</vt:lpstr>
      <vt:lpstr>Roboto</vt:lpstr>
      <vt:lpstr>Verdana</vt:lpstr>
      <vt:lpstr>Open Sans Light</vt:lpstr>
      <vt:lpstr>FZLanTingHeiS-B-GB</vt:lpstr>
      <vt:lpstr>FZLanTingHeiS-DB-GB</vt:lpstr>
      <vt:lpstr>Canaro Medium</vt:lpstr>
      <vt:lpstr>Canaro Book</vt:lpstr>
      <vt:lpstr>Segoe Print</vt:lpstr>
      <vt:lpstr>Impact</vt:lpstr>
      <vt:lpstr>Arial Unicode MS</vt:lpstr>
      <vt:lpstr>Wingdings</vt:lpstr>
      <vt:lpstr>Yu Gothic UI Light</vt:lpstr>
      <vt:lpstr>兰</vt:lpstr>
      <vt:lpstr>1_自定义设计方案</vt:lpstr>
      <vt:lpstr>自定义设计方案</vt:lpstr>
      <vt:lpstr>1_兰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lizezhong</dc:creator>
  <cp:lastModifiedBy>lx</cp:lastModifiedBy>
  <cp:revision>3043</cp:revision>
  <cp:lastPrinted>2017-12-19T13:14:00Z</cp:lastPrinted>
  <dcterms:created xsi:type="dcterms:W3CDTF">2015-09-11T11:47:00Z</dcterms:created>
  <dcterms:modified xsi:type="dcterms:W3CDTF">2022-05-23T09:54:19Z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2052-11.1.0.11636</vt:lpwstr>
  </property>
  <property fmtid="{D5CDD505-2E9C-101B-9397-08002B2CF9AE}" pid="3" name="ICV">
    <vt:lpwstr>9E5D1EF4DEB7459985420591C5C30546</vt:lpwstr>
  </property>
</Properties>
</file>